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4" d="100"/>
          <a:sy n="114" d="100"/>
        </p:scale>
        <p:origin x="438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705899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7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8.pn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1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10" Type="http://schemas.openxmlformats.org/officeDocument/2006/relationships/image" Target="../media/image16.png"/><Relationship Id="rId4" Type="http://schemas.openxmlformats.org/officeDocument/2006/relationships/image" Target="../media/image10.png"/><Relationship Id="rId9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6.png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1F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548640"/>
            <a:ext cx="54864" cy="54864"/>
          </a:xfrm>
          <a:prstGeom prst="ellipse">
            <a:avLst/>
          </a:prstGeom>
          <a:solidFill>
            <a:srgbClr val="3A4070"/>
          </a:solidFill>
          <a:ln/>
        </p:spPr>
      </p:sp>
      <p:sp>
        <p:nvSpPr>
          <p:cNvPr id="3" name="Shape 1"/>
          <p:cNvSpPr/>
          <p:nvPr/>
        </p:nvSpPr>
        <p:spPr>
          <a:xfrm>
            <a:off x="9692640" y="868680"/>
            <a:ext cx="54864" cy="54864"/>
          </a:xfrm>
          <a:prstGeom prst="ellipse">
            <a:avLst/>
          </a:prstGeom>
          <a:solidFill>
            <a:srgbClr val="3A4070"/>
          </a:solidFill>
          <a:ln/>
        </p:spPr>
      </p:sp>
      <p:sp>
        <p:nvSpPr>
          <p:cNvPr id="4" name="Shape 2"/>
          <p:cNvSpPr/>
          <p:nvPr/>
        </p:nvSpPr>
        <p:spPr>
          <a:xfrm>
            <a:off x="9692640" y="1188720"/>
            <a:ext cx="54864" cy="54864"/>
          </a:xfrm>
          <a:prstGeom prst="ellipse">
            <a:avLst/>
          </a:prstGeom>
          <a:solidFill>
            <a:srgbClr val="3A4070"/>
          </a:solidFill>
          <a:ln/>
        </p:spPr>
      </p:sp>
      <p:sp>
        <p:nvSpPr>
          <p:cNvPr id="5" name="Shape 3"/>
          <p:cNvSpPr/>
          <p:nvPr/>
        </p:nvSpPr>
        <p:spPr>
          <a:xfrm>
            <a:off x="10012680" y="548640"/>
            <a:ext cx="54864" cy="54864"/>
          </a:xfrm>
          <a:prstGeom prst="ellipse">
            <a:avLst/>
          </a:prstGeom>
          <a:solidFill>
            <a:srgbClr val="3A4070"/>
          </a:solidFill>
          <a:ln/>
        </p:spPr>
      </p:sp>
      <p:sp>
        <p:nvSpPr>
          <p:cNvPr id="6" name="Shape 4"/>
          <p:cNvSpPr/>
          <p:nvPr/>
        </p:nvSpPr>
        <p:spPr>
          <a:xfrm>
            <a:off x="10012680" y="868680"/>
            <a:ext cx="54864" cy="54864"/>
          </a:xfrm>
          <a:prstGeom prst="ellipse">
            <a:avLst/>
          </a:prstGeom>
          <a:solidFill>
            <a:srgbClr val="3A4070"/>
          </a:solidFill>
          <a:ln/>
        </p:spPr>
      </p:sp>
      <p:sp>
        <p:nvSpPr>
          <p:cNvPr id="7" name="Shape 5"/>
          <p:cNvSpPr/>
          <p:nvPr/>
        </p:nvSpPr>
        <p:spPr>
          <a:xfrm>
            <a:off x="10012680" y="1188720"/>
            <a:ext cx="54864" cy="54864"/>
          </a:xfrm>
          <a:prstGeom prst="ellipse">
            <a:avLst/>
          </a:prstGeom>
          <a:solidFill>
            <a:srgbClr val="3A4070"/>
          </a:solidFill>
          <a:ln/>
        </p:spPr>
      </p:sp>
      <p:sp>
        <p:nvSpPr>
          <p:cNvPr id="8" name="Shape 6"/>
          <p:cNvSpPr/>
          <p:nvPr/>
        </p:nvSpPr>
        <p:spPr>
          <a:xfrm>
            <a:off x="10332720" y="548640"/>
            <a:ext cx="54864" cy="54864"/>
          </a:xfrm>
          <a:prstGeom prst="ellipse">
            <a:avLst/>
          </a:prstGeom>
          <a:solidFill>
            <a:srgbClr val="3A4070"/>
          </a:solidFill>
          <a:ln/>
        </p:spPr>
      </p:sp>
      <p:sp>
        <p:nvSpPr>
          <p:cNvPr id="9" name="Shape 7"/>
          <p:cNvSpPr/>
          <p:nvPr/>
        </p:nvSpPr>
        <p:spPr>
          <a:xfrm>
            <a:off x="10332720" y="868680"/>
            <a:ext cx="54864" cy="54864"/>
          </a:xfrm>
          <a:prstGeom prst="ellipse">
            <a:avLst/>
          </a:prstGeom>
          <a:solidFill>
            <a:srgbClr val="3A4070"/>
          </a:solidFill>
          <a:ln/>
        </p:spPr>
      </p:sp>
      <p:sp>
        <p:nvSpPr>
          <p:cNvPr id="10" name="Shape 8"/>
          <p:cNvSpPr/>
          <p:nvPr/>
        </p:nvSpPr>
        <p:spPr>
          <a:xfrm>
            <a:off x="10332720" y="1188720"/>
            <a:ext cx="54864" cy="54864"/>
          </a:xfrm>
          <a:prstGeom prst="ellipse">
            <a:avLst/>
          </a:prstGeom>
          <a:solidFill>
            <a:srgbClr val="3A4070"/>
          </a:solidFill>
          <a:ln/>
        </p:spPr>
      </p:sp>
      <p:sp>
        <p:nvSpPr>
          <p:cNvPr id="11" name="Shape 9"/>
          <p:cNvSpPr/>
          <p:nvPr/>
        </p:nvSpPr>
        <p:spPr>
          <a:xfrm>
            <a:off x="10652760" y="548640"/>
            <a:ext cx="54864" cy="54864"/>
          </a:xfrm>
          <a:prstGeom prst="ellipse">
            <a:avLst/>
          </a:prstGeom>
          <a:solidFill>
            <a:srgbClr val="3A4070"/>
          </a:solidFill>
          <a:ln/>
        </p:spPr>
      </p:sp>
      <p:sp>
        <p:nvSpPr>
          <p:cNvPr id="12" name="Shape 10"/>
          <p:cNvSpPr/>
          <p:nvPr/>
        </p:nvSpPr>
        <p:spPr>
          <a:xfrm>
            <a:off x="10652760" y="868680"/>
            <a:ext cx="54864" cy="54864"/>
          </a:xfrm>
          <a:prstGeom prst="ellipse">
            <a:avLst/>
          </a:prstGeom>
          <a:solidFill>
            <a:srgbClr val="3A4070"/>
          </a:solidFill>
          <a:ln/>
        </p:spPr>
      </p:sp>
      <p:sp>
        <p:nvSpPr>
          <p:cNvPr id="13" name="Shape 11"/>
          <p:cNvSpPr/>
          <p:nvPr/>
        </p:nvSpPr>
        <p:spPr>
          <a:xfrm>
            <a:off x="10652760" y="1188720"/>
            <a:ext cx="54864" cy="54864"/>
          </a:xfrm>
          <a:prstGeom prst="ellipse">
            <a:avLst/>
          </a:prstGeom>
          <a:solidFill>
            <a:srgbClr val="3A4070"/>
          </a:solidFill>
          <a:ln/>
        </p:spPr>
      </p:sp>
      <p:sp>
        <p:nvSpPr>
          <p:cNvPr id="14" name="Shape 12"/>
          <p:cNvSpPr/>
          <p:nvPr/>
        </p:nvSpPr>
        <p:spPr>
          <a:xfrm>
            <a:off x="10972800" y="548640"/>
            <a:ext cx="54864" cy="54864"/>
          </a:xfrm>
          <a:prstGeom prst="ellipse">
            <a:avLst/>
          </a:prstGeom>
          <a:solidFill>
            <a:srgbClr val="3A4070"/>
          </a:solidFill>
          <a:ln/>
        </p:spPr>
      </p:sp>
      <p:sp>
        <p:nvSpPr>
          <p:cNvPr id="15" name="Shape 13"/>
          <p:cNvSpPr/>
          <p:nvPr/>
        </p:nvSpPr>
        <p:spPr>
          <a:xfrm>
            <a:off x="10972800" y="868680"/>
            <a:ext cx="54864" cy="54864"/>
          </a:xfrm>
          <a:prstGeom prst="ellipse">
            <a:avLst/>
          </a:prstGeom>
          <a:solidFill>
            <a:srgbClr val="3A4070"/>
          </a:solidFill>
          <a:ln/>
        </p:spPr>
      </p:sp>
      <p:sp>
        <p:nvSpPr>
          <p:cNvPr id="16" name="Shape 14"/>
          <p:cNvSpPr/>
          <p:nvPr/>
        </p:nvSpPr>
        <p:spPr>
          <a:xfrm>
            <a:off x="10972800" y="1188720"/>
            <a:ext cx="54864" cy="54864"/>
          </a:xfrm>
          <a:prstGeom prst="ellipse">
            <a:avLst/>
          </a:prstGeom>
          <a:solidFill>
            <a:srgbClr val="3A4070"/>
          </a:solidFill>
          <a:ln/>
        </p:spPr>
      </p:sp>
      <p:sp>
        <p:nvSpPr>
          <p:cNvPr id="17" name="Shape 15"/>
          <p:cNvSpPr/>
          <p:nvPr/>
        </p:nvSpPr>
        <p:spPr>
          <a:xfrm>
            <a:off x="11292840" y="548640"/>
            <a:ext cx="54864" cy="54864"/>
          </a:xfrm>
          <a:prstGeom prst="ellipse">
            <a:avLst/>
          </a:prstGeom>
          <a:solidFill>
            <a:srgbClr val="3A4070"/>
          </a:solidFill>
          <a:ln/>
        </p:spPr>
      </p:sp>
      <p:sp>
        <p:nvSpPr>
          <p:cNvPr id="18" name="Shape 16"/>
          <p:cNvSpPr/>
          <p:nvPr/>
        </p:nvSpPr>
        <p:spPr>
          <a:xfrm>
            <a:off x="11292840" y="868680"/>
            <a:ext cx="54864" cy="54864"/>
          </a:xfrm>
          <a:prstGeom prst="ellipse">
            <a:avLst/>
          </a:prstGeom>
          <a:solidFill>
            <a:srgbClr val="3A4070"/>
          </a:solidFill>
          <a:ln/>
        </p:spPr>
      </p:sp>
      <p:sp>
        <p:nvSpPr>
          <p:cNvPr id="19" name="Shape 17"/>
          <p:cNvSpPr/>
          <p:nvPr/>
        </p:nvSpPr>
        <p:spPr>
          <a:xfrm>
            <a:off x="11292840" y="1188720"/>
            <a:ext cx="54864" cy="54864"/>
          </a:xfrm>
          <a:prstGeom prst="ellipse">
            <a:avLst/>
          </a:prstGeom>
          <a:solidFill>
            <a:srgbClr val="3A4070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64008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00D9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OPERATING SYSTEMS AND SYSTEMS PROGRAMMING  ·  25CS2104E  ·  2026–27, TERM-I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40080" y="233172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Multithreaded Linux Application</a:t>
            </a:r>
            <a:endParaRPr lang="en-US" sz="4400" dirty="0"/>
          </a:p>
        </p:txBody>
      </p:sp>
      <p:sp>
        <p:nvSpPr>
          <p:cNvPr id="22" name="Text 20"/>
          <p:cNvSpPr/>
          <p:nvPr/>
        </p:nvSpPr>
        <p:spPr>
          <a:xfrm>
            <a:off x="640080" y="315468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C7CC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Using </a:t>
            </a:r>
            <a:r>
              <a:rPr lang="en-US" sz="3000" b="1" dirty="0">
                <a:solidFill>
                  <a:srgbClr val="00D9A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POSIX Threads</a:t>
            </a:r>
            <a:r>
              <a:rPr lang="en-US" sz="3000" b="1" dirty="0">
                <a:solidFill>
                  <a:srgbClr val="C7CC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and </a:t>
            </a:r>
            <a:r>
              <a:rPr lang="en-US" sz="3000" b="1" dirty="0">
                <a:solidFill>
                  <a:srgbClr val="00D9A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Mutexes</a:t>
            </a:r>
            <a:endParaRPr lang="en-US" sz="3000" dirty="0"/>
          </a:p>
        </p:txBody>
      </p:sp>
      <p:sp>
        <p:nvSpPr>
          <p:cNvPr id="23" name="Shape 21"/>
          <p:cNvSpPr/>
          <p:nvPr/>
        </p:nvSpPr>
        <p:spPr>
          <a:xfrm>
            <a:off x="658368" y="4160520"/>
            <a:ext cx="2011680" cy="0"/>
          </a:xfrm>
          <a:prstGeom prst="line">
            <a:avLst/>
          </a:prstGeom>
          <a:noFill/>
          <a:ln w="31750">
            <a:solidFill>
              <a:srgbClr val="00D9A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0080" y="43434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C7C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</a:t>
            </a:r>
            <a:r>
              <a:rPr lang="en-US" sz="1500" dirty="0" smtClean="0">
                <a:solidFill>
                  <a:srgbClr val="C7C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-3  </a:t>
            </a:r>
            <a:r>
              <a:rPr lang="en-US" sz="1500" dirty="0">
                <a:solidFill>
                  <a:srgbClr val="C7C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r>
              <a:rPr lang="en-US" sz="1500" dirty="0" smtClean="0">
                <a:solidFill>
                  <a:srgbClr val="C7C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Team-21 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640080" y="480060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300" dirty="0" smtClean="0">
                <a:solidFill>
                  <a:schemeClr val="bg1"/>
                </a:solidFill>
              </a:rPr>
              <a:t>M.Gayatri-2520030175</a:t>
            </a:r>
          </a:p>
          <a:p>
            <a:pPr marL="0" indent="0">
              <a:lnSpc>
                <a:spcPct val="135000"/>
              </a:lnSpc>
              <a:buNone/>
            </a:pPr>
            <a:r>
              <a:rPr lang="en-US" sz="1300" dirty="0" smtClean="0">
                <a:solidFill>
                  <a:schemeClr val="bg1"/>
                </a:solidFill>
              </a:rPr>
              <a:t>J.Nanditha-2520030013</a:t>
            </a:r>
            <a:r>
              <a:rPr lang="en-US" sz="1300" dirty="0" smtClean="0"/>
              <a:t>i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9966960" y="4480560"/>
            <a:ext cx="1371600" cy="1371600"/>
          </a:xfrm>
          <a:prstGeom prst="ellipse">
            <a:avLst/>
          </a:prstGeom>
          <a:solidFill>
            <a:srgbClr val="252A4A"/>
          </a:solidFill>
          <a:ln/>
        </p:spPr>
      </p:sp>
      <p:pic>
        <p:nvPicPr>
          <p:cNvPr id="27" name="Image 0" descr="icons/linux_00D9A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37292" y="4850892"/>
            <a:ext cx="630936" cy="63093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00D9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·  ABSTRACT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Concurrent task processing, done right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600200"/>
            <a:ext cx="60350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5A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Conventional single-threaded applications process tasks one after another, wasting CPU capacity when several independent tasks could run at once. This project builds a </a:t>
            </a:r>
            <a:r>
              <a:rPr lang="en-US" sz="14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Linux application that runs multiple tasks concurrently</a:t>
            </a:r>
            <a:r>
              <a:rPr lang="en-US" sz="1450" dirty="0">
                <a:solidFill>
                  <a:srgbClr val="5A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using POSIX threads, while </a:t>
            </a:r>
            <a:r>
              <a:rPr lang="en-US" sz="14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mutex-based synchronization</a:t>
            </a:r>
            <a:r>
              <a:rPr lang="en-US" sz="1450" dirty="0">
                <a:solidFill>
                  <a:srgbClr val="5A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keeps shared data safe from race conditions.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640080" y="3703320"/>
            <a:ext cx="502920" cy="502920"/>
          </a:xfrm>
          <a:prstGeom prst="ellipse">
            <a:avLst/>
          </a:prstGeom>
          <a:solidFill>
            <a:srgbClr val="1B1F3B"/>
          </a:solidFill>
          <a:ln/>
        </p:spPr>
      </p:sp>
      <p:pic>
        <p:nvPicPr>
          <p:cNvPr id="6" name="Image 0" descr="icons/cpu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5868" y="3839108"/>
            <a:ext cx="231343" cy="23134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25880" y="3685032"/>
            <a:ext cx="5349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Concurrent execution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1325880" y="3995928"/>
            <a:ext cx="5349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A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threads created with pthreads run tasks in parallel instead of sequentially.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640080" y="4572000"/>
            <a:ext cx="502920" cy="502920"/>
          </a:xfrm>
          <a:prstGeom prst="ellipse">
            <a:avLst/>
          </a:prstGeom>
          <a:solidFill>
            <a:srgbClr val="1B1F3B"/>
          </a:solidFill>
          <a:ln/>
        </p:spPr>
      </p:sp>
      <p:pic>
        <p:nvPicPr>
          <p:cNvPr id="10" name="Image 1" descr="icons/lock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5868" y="4707788"/>
            <a:ext cx="231343" cy="231343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325880" y="4553712"/>
            <a:ext cx="5349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 shared access</a:t>
            </a:r>
            <a:endParaRPr lang="en-US" sz="1350" dirty="0"/>
          </a:p>
        </p:txBody>
      </p:sp>
      <p:sp>
        <p:nvSpPr>
          <p:cNvPr id="12" name="Text 8"/>
          <p:cNvSpPr/>
          <p:nvPr/>
        </p:nvSpPr>
        <p:spPr>
          <a:xfrm>
            <a:off x="1325880" y="4864608"/>
            <a:ext cx="5349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A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Mutexes guard critical sections so shared resources are never corrupted by simultaneous access.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640080" y="5440680"/>
            <a:ext cx="502920" cy="502920"/>
          </a:xfrm>
          <a:prstGeom prst="ellipse">
            <a:avLst/>
          </a:prstGeom>
          <a:solidFill>
            <a:srgbClr val="1B1F3B"/>
          </a:solidFill>
          <a:ln/>
        </p:spPr>
      </p:sp>
      <p:pic>
        <p:nvPicPr>
          <p:cNvPr id="14" name="Image 2" descr="icons/layers_FFFF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5868" y="5576468"/>
            <a:ext cx="231343" cy="231343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325880" y="5422392"/>
            <a:ext cx="5349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thread lifecycle</a:t>
            </a:r>
            <a:endParaRPr lang="en-US" sz="1350" dirty="0"/>
          </a:p>
        </p:txBody>
      </p:sp>
      <p:sp>
        <p:nvSpPr>
          <p:cNvPr id="16" name="Text 11"/>
          <p:cNvSpPr/>
          <p:nvPr/>
        </p:nvSpPr>
        <p:spPr>
          <a:xfrm>
            <a:off x="1325880" y="5733288"/>
            <a:ext cx="5349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A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Demonstrates creation, execution, synchronization, and clean termination of every thread.</a:t>
            </a:r>
            <a:endParaRPr lang="en-US" sz="1100" dirty="0"/>
          </a:p>
        </p:txBody>
      </p:sp>
      <p:sp>
        <p:nvSpPr>
          <p:cNvPr id="17" name="Shape 12"/>
          <p:cNvSpPr/>
          <p:nvPr/>
        </p:nvSpPr>
        <p:spPr>
          <a:xfrm>
            <a:off x="7086600" y="1600200"/>
            <a:ext cx="4480560" cy="4480560"/>
          </a:xfrm>
          <a:prstGeom prst="roundRect">
            <a:avLst>
              <a:gd name="adj" fmla="val 2449"/>
            </a:avLst>
          </a:prstGeom>
          <a:solidFill>
            <a:srgbClr val="1B1F3B"/>
          </a:solidFill>
          <a:ln/>
        </p:spPr>
      </p:sp>
      <p:sp>
        <p:nvSpPr>
          <p:cNvPr id="18" name="Text 13"/>
          <p:cNvSpPr/>
          <p:nvPr/>
        </p:nvSpPr>
        <p:spPr>
          <a:xfrm>
            <a:off x="7452360" y="192024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00D9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OUTCOME</a:t>
            </a:r>
            <a:endParaRPr lang="en-US" sz="1200" dirty="0"/>
          </a:p>
        </p:txBody>
      </p:sp>
      <p:sp>
        <p:nvSpPr>
          <p:cNvPr id="19" name="Text 14"/>
          <p:cNvSpPr/>
          <p:nvPr/>
        </p:nvSpPr>
        <p:spPr>
          <a:xfrm>
            <a:off x="7452360" y="2331720"/>
            <a:ext cx="3749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working, functional Linux application that processes multiple tasks concurrently while keeping shared data fully consistent.</a:t>
            </a:r>
            <a:endParaRPr lang="en-US" sz="1400" dirty="0"/>
          </a:p>
        </p:txBody>
      </p:sp>
      <p:sp>
        <p:nvSpPr>
          <p:cNvPr id="20" name="Shape 15"/>
          <p:cNvSpPr/>
          <p:nvPr/>
        </p:nvSpPr>
        <p:spPr>
          <a:xfrm>
            <a:off x="7452360" y="3657600"/>
            <a:ext cx="3749040" cy="0"/>
          </a:xfrm>
          <a:prstGeom prst="line">
            <a:avLst/>
          </a:prstGeom>
          <a:noFill/>
          <a:ln w="12700">
            <a:solidFill>
              <a:srgbClr val="3A4070"/>
            </a:solidFill>
            <a:prstDash val="solid"/>
          </a:ln>
        </p:spPr>
      </p:sp>
      <p:sp>
        <p:nvSpPr>
          <p:cNvPr id="21" name="Text 16"/>
          <p:cNvSpPr/>
          <p:nvPr/>
        </p:nvSpPr>
        <p:spPr>
          <a:xfrm>
            <a:off x="7452360" y="3886200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D9A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4+</a:t>
            </a:r>
            <a:endParaRPr lang="en-US" sz="2600" dirty="0"/>
          </a:p>
        </p:txBody>
      </p:sp>
      <p:sp>
        <p:nvSpPr>
          <p:cNvPr id="22" name="Text 17"/>
          <p:cNvSpPr/>
          <p:nvPr/>
        </p:nvSpPr>
        <p:spPr>
          <a:xfrm>
            <a:off x="8458200" y="3959352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7C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POSIX APIs used</a:t>
            </a:r>
            <a:endParaRPr lang="en-US" sz="1150" dirty="0"/>
          </a:p>
        </p:txBody>
      </p:sp>
      <p:sp>
        <p:nvSpPr>
          <p:cNvPr id="23" name="Text 18"/>
          <p:cNvSpPr/>
          <p:nvPr/>
        </p:nvSpPr>
        <p:spPr>
          <a:xfrm>
            <a:off x="7452360" y="4572000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D9A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</a:t>
            </a:r>
            <a:endParaRPr lang="en-US" sz="2600" dirty="0"/>
          </a:p>
        </p:txBody>
      </p:sp>
      <p:sp>
        <p:nvSpPr>
          <p:cNvPr id="24" name="Text 19"/>
          <p:cNvSpPr/>
          <p:nvPr/>
        </p:nvSpPr>
        <p:spPr>
          <a:xfrm>
            <a:off x="8458200" y="4645152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7C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Worker threads, concurrently</a:t>
            </a:r>
            <a:endParaRPr lang="en-US" sz="1150" dirty="0"/>
          </a:p>
        </p:txBody>
      </p:sp>
      <p:sp>
        <p:nvSpPr>
          <p:cNvPr id="25" name="Text 20"/>
          <p:cNvSpPr/>
          <p:nvPr/>
        </p:nvSpPr>
        <p:spPr>
          <a:xfrm>
            <a:off x="7452360" y="5257800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D9A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2600" dirty="0"/>
          </a:p>
        </p:txBody>
      </p:sp>
      <p:sp>
        <p:nvSpPr>
          <p:cNvPr id="26" name="Text 21"/>
          <p:cNvSpPr/>
          <p:nvPr/>
        </p:nvSpPr>
        <p:spPr>
          <a:xfrm>
            <a:off x="8458200" y="5330952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7C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Race conditions tolerated</a:t>
            </a:r>
            <a:endParaRPr lang="en-US" sz="1150" dirty="0"/>
          </a:p>
        </p:txBody>
      </p:sp>
      <p:sp>
        <p:nvSpPr>
          <p:cNvPr id="27" name="Text 22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A6AD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MULTITHREADED LINUX APPLICATION  ·  OS &amp; SYSTEMS PROGRAMMING</a:t>
            </a:r>
            <a:endParaRPr lang="en-US" sz="900" dirty="0"/>
          </a:p>
        </p:txBody>
      </p:sp>
      <p:sp>
        <p:nvSpPr>
          <p:cNvPr id="28" name="Text 23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6AD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00D9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·  PROBLEM STATEMENT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Sequential execution wastes CPU. Unsynchronized access breaks data.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257800" cy="4206240"/>
          </a:xfrm>
          <a:prstGeom prst="roundRect">
            <a:avLst>
              <a:gd name="adj" fmla="val 2174"/>
            </a:avLst>
          </a:prstGeom>
          <a:solidFill>
            <a:srgbClr val="FFFFFF"/>
          </a:solidFill>
          <a:ln w="12700">
            <a:solidFill>
              <a:srgbClr val="E3E6EE"/>
            </a:solidFill>
            <a:prstDash val="solid"/>
          </a:ln>
          <a:effectLst>
            <a:outerShdw blurRad="101600" dist="38100" dir="5400000" algn="bl" rotWithShape="0">
              <a:srgbClr val="1B1F3B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60120" y="21031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15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960120" y="2633472"/>
            <a:ext cx="82296" cy="82296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7" name="Text 5"/>
          <p:cNvSpPr/>
          <p:nvPr/>
        </p:nvSpPr>
        <p:spPr>
          <a:xfrm>
            <a:off x="1188720" y="2487168"/>
            <a:ext cx="4480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5A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Single-threaded apps handle tasks one at a time, under-using available CPU resources.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960120" y="3474720"/>
            <a:ext cx="82296" cy="82296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9" name="Text 7"/>
          <p:cNvSpPr/>
          <p:nvPr/>
        </p:nvSpPr>
        <p:spPr>
          <a:xfrm>
            <a:off x="1188720" y="3328416"/>
            <a:ext cx="4480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5A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tasks that could run in parallel are forced to wait their turn.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960120" y="4315968"/>
            <a:ext cx="82296" cy="82296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1" name="Text 9"/>
          <p:cNvSpPr/>
          <p:nvPr/>
        </p:nvSpPr>
        <p:spPr>
          <a:xfrm>
            <a:off x="1188720" y="4169664"/>
            <a:ext cx="4480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5A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threads do access shared resources without control, race conditions and inconsistent data follow.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960120" y="5157216"/>
            <a:ext cx="82296" cy="82296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3" name="Text 11"/>
          <p:cNvSpPr/>
          <p:nvPr/>
        </p:nvSpPr>
        <p:spPr>
          <a:xfrm>
            <a:off x="1188720" y="5010912"/>
            <a:ext cx="4480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5A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result: unpredictable program behavior that is hard to reproduce and debug.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263640" y="1874520"/>
            <a:ext cx="5257800" cy="4206240"/>
          </a:xfrm>
          <a:prstGeom prst="roundRect">
            <a:avLst>
              <a:gd name="adj" fmla="val 2174"/>
            </a:avLst>
          </a:prstGeom>
          <a:solidFill>
            <a:srgbClr val="1B1F3B"/>
          </a:solidFill>
          <a:ln/>
        </p:spPr>
      </p:sp>
      <p:sp>
        <p:nvSpPr>
          <p:cNvPr id="15" name="Text 13"/>
          <p:cNvSpPr/>
          <p:nvPr/>
        </p:nvSpPr>
        <p:spPr>
          <a:xfrm>
            <a:off x="6583680" y="21031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150" dirty="0">
                <a:solidFill>
                  <a:srgbClr val="00D9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APPROACH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583680" y="2679192"/>
            <a:ext cx="82296" cy="82296"/>
          </a:xfrm>
          <a:prstGeom prst="ellipse">
            <a:avLst/>
          </a:prstGeom>
          <a:solidFill>
            <a:srgbClr val="00D9A5"/>
          </a:solidFill>
          <a:ln/>
        </p:spPr>
      </p:sp>
      <p:sp>
        <p:nvSpPr>
          <p:cNvPr id="17" name="Text 15"/>
          <p:cNvSpPr/>
          <p:nvPr/>
        </p:nvSpPr>
        <p:spPr>
          <a:xfrm>
            <a:off x="6812280" y="2532888"/>
            <a:ext cx="4526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5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Linux, multithreaded application where multiple POSIX threads perform tasks concurrently.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583680" y="3730752"/>
            <a:ext cx="82296" cy="82296"/>
          </a:xfrm>
          <a:prstGeom prst="ellipse">
            <a:avLst/>
          </a:prstGeom>
          <a:solidFill>
            <a:srgbClr val="00D9A5"/>
          </a:solidFill>
          <a:ln/>
        </p:spPr>
      </p:sp>
      <p:sp>
        <p:nvSpPr>
          <p:cNvPr id="19" name="Text 17"/>
          <p:cNvSpPr/>
          <p:nvPr/>
        </p:nvSpPr>
        <p:spPr>
          <a:xfrm>
            <a:off x="6812280" y="3584448"/>
            <a:ext cx="4526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5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mutexes to control access to shared resources, so only one thread enters a critical section at a time.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583680" y="4782312"/>
            <a:ext cx="82296" cy="82296"/>
          </a:xfrm>
          <a:prstGeom prst="ellipse">
            <a:avLst/>
          </a:prstGeom>
          <a:solidFill>
            <a:srgbClr val="00D9A5"/>
          </a:solidFill>
          <a:ln/>
        </p:spPr>
      </p:sp>
      <p:sp>
        <p:nvSpPr>
          <p:cNvPr id="21" name="Text 19"/>
          <p:cNvSpPr/>
          <p:nvPr/>
        </p:nvSpPr>
        <p:spPr>
          <a:xfrm>
            <a:off x="6812280" y="4636008"/>
            <a:ext cx="4526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5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core OS concepts in practice: concurrency, thread management, mutual exclusion, and shared-resource protection.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A6AD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MULTITHREADED LINUX APPLICATION  ·  OS &amp; SYSTEMS PROGRAMMING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6AD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00D9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·  OBJECTIVES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project sets out to achieve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5257800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E3E6E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60120" y="2240280"/>
            <a:ext cx="548640" cy="548640"/>
          </a:xfrm>
          <a:prstGeom prst="ellipse">
            <a:avLst/>
          </a:prstGeom>
          <a:solidFill>
            <a:srgbClr val="1B1F3B"/>
          </a:solidFill>
          <a:ln/>
        </p:spPr>
      </p:sp>
      <p:pic>
        <p:nvPicPr>
          <p:cNvPr id="6" name="Image 0" descr="icons/target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8253" y="2388413"/>
            <a:ext cx="252374" cy="25237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983480" y="2167128"/>
            <a:ext cx="685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D8DC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960120" y="2926080"/>
            <a:ext cx="4617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&amp; implement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960120" y="3264408"/>
            <a:ext cx="4617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A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multithreaded Linux application using POSIX threads (pthreads) that executes multiple tasks concurrently.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6263640" y="1965960"/>
            <a:ext cx="5257800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E3E6EE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583680" y="2240280"/>
            <a:ext cx="548640" cy="548640"/>
          </a:xfrm>
          <a:prstGeom prst="ellipse">
            <a:avLst/>
          </a:prstGeom>
          <a:solidFill>
            <a:srgbClr val="1B1F3B"/>
          </a:solidFill>
          <a:ln/>
        </p:spPr>
      </p:sp>
      <p:pic>
        <p:nvPicPr>
          <p:cNvPr id="12" name="Image 1" descr="icons/lock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31813" y="2388413"/>
            <a:ext cx="252374" cy="25237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0607040" y="2167128"/>
            <a:ext cx="685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D8DC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000" dirty="0"/>
          </a:p>
        </p:txBody>
      </p:sp>
      <p:sp>
        <p:nvSpPr>
          <p:cNvPr id="14" name="Text 10"/>
          <p:cNvSpPr/>
          <p:nvPr/>
        </p:nvSpPr>
        <p:spPr>
          <a:xfrm>
            <a:off x="6583680" y="2926080"/>
            <a:ext cx="4617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Synchronize safely</a:t>
            </a:r>
            <a:endParaRPr lang="en-US" sz="1500" dirty="0"/>
          </a:p>
        </p:txBody>
      </p:sp>
      <p:sp>
        <p:nvSpPr>
          <p:cNvPr id="15" name="Text 11"/>
          <p:cNvSpPr/>
          <p:nvPr/>
        </p:nvSpPr>
        <p:spPr>
          <a:xfrm>
            <a:off x="6583680" y="3264408"/>
            <a:ext cx="4617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A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mutex-based synchronization to protect shared resources and prevent race conditions among threads.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640080" y="4160520"/>
            <a:ext cx="5257800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E3E6EE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960120" y="4434840"/>
            <a:ext cx="548640" cy="548640"/>
          </a:xfrm>
          <a:prstGeom prst="ellipse">
            <a:avLst/>
          </a:prstGeom>
          <a:solidFill>
            <a:srgbClr val="1B1F3B"/>
          </a:solidFill>
          <a:ln/>
        </p:spPr>
      </p:sp>
      <p:pic>
        <p:nvPicPr>
          <p:cNvPr id="18" name="Image 2" descr="icons/layers_FFFF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08253" y="4582973"/>
            <a:ext cx="252374" cy="252374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4983480" y="4361688"/>
            <a:ext cx="685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D8DC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000" dirty="0"/>
          </a:p>
        </p:txBody>
      </p:sp>
      <p:sp>
        <p:nvSpPr>
          <p:cNvPr id="20" name="Text 15"/>
          <p:cNvSpPr/>
          <p:nvPr/>
        </p:nvSpPr>
        <p:spPr>
          <a:xfrm>
            <a:off x="960120" y="5120640"/>
            <a:ext cx="4617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the full lifecycle</a:t>
            </a:r>
            <a:endParaRPr lang="en-US" sz="1500" dirty="0"/>
          </a:p>
        </p:txBody>
      </p:sp>
      <p:sp>
        <p:nvSpPr>
          <p:cNvPr id="21" name="Text 16"/>
          <p:cNvSpPr/>
          <p:nvPr/>
        </p:nvSpPr>
        <p:spPr>
          <a:xfrm>
            <a:off x="960120" y="5458968"/>
            <a:ext cx="4617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A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Demonstrate thread creation, execution, coordination, and termination via pthread_create(), pthread_join(), and related APIs.</a:t>
            </a:r>
            <a:endParaRPr lang="en-US" sz="1150" dirty="0"/>
          </a:p>
        </p:txBody>
      </p:sp>
      <p:sp>
        <p:nvSpPr>
          <p:cNvPr id="22" name="Shape 17"/>
          <p:cNvSpPr/>
          <p:nvPr/>
        </p:nvSpPr>
        <p:spPr>
          <a:xfrm>
            <a:off x="6263640" y="4160520"/>
            <a:ext cx="5257800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E3E6EE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6583680" y="4434840"/>
            <a:ext cx="548640" cy="548640"/>
          </a:xfrm>
          <a:prstGeom prst="ellipse">
            <a:avLst/>
          </a:prstGeom>
          <a:solidFill>
            <a:srgbClr val="1B1F3B"/>
          </a:solidFill>
          <a:ln/>
        </p:spPr>
      </p:sp>
      <p:pic>
        <p:nvPicPr>
          <p:cNvPr id="24" name="Image 3" descr="icons/check_FFFFFF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31813" y="4582973"/>
            <a:ext cx="252374" cy="252374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10607040" y="4361688"/>
            <a:ext cx="685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D8DC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000" dirty="0"/>
          </a:p>
        </p:txBody>
      </p:sp>
      <p:sp>
        <p:nvSpPr>
          <p:cNvPr id="26" name="Text 20"/>
          <p:cNvSpPr/>
          <p:nvPr/>
        </p:nvSpPr>
        <p:spPr>
          <a:xfrm>
            <a:off x="6583680" y="5120640"/>
            <a:ext cx="4617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practical understanding</a:t>
            </a:r>
            <a:endParaRPr lang="en-US" sz="1500" dirty="0"/>
          </a:p>
        </p:txBody>
      </p:sp>
      <p:sp>
        <p:nvSpPr>
          <p:cNvPr id="27" name="Text 21"/>
          <p:cNvSpPr/>
          <p:nvPr/>
        </p:nvSpPr>
        <p:spPr>
          <a:xfrm>
            <a:off x="6583680" y="5458968"/>
            <a:ext cx="4617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A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Gain hands-on grounding in concurrency, mutual exclusion, and shared-resource management on Linux.</a:t>
            </a:r>
            <a:endParaRPr lang="en-US" sz="1150" dirty="0"/>
          </a:p>
        </p:txBody>
      </p:sp>
      <p:sp>
        <p:nvSpPr>
          <p:cNvPr id="28" name="Text 22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A6AD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MULTITHREADED LINUX APPLICATION  ·  OS &amp; SYSTEMS PROGRAMMING</a:t>
            </a:r>
            <a:endParaRPr lang="en-US" sz="900" dirty="0"/>
          </a:p>
        </p:txBody>
      </p:sp>
      <p:sp>
        <p:nvSpPr>
          <p:cNvPr id="29" name="Text 23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6AD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B1F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00D9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·  PROPOSED METHODOLOGY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789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task input to protected shared-resource access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40080" y="1417320"/>
            <a:ext cx="10789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7C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 spins up worker threads with </a:t>
            </a:r>
            <a:r>
              <a:rPr lang="en-US" sz="1300" dirty="0">
                <a:solidFill>
                  <a:srgbClr val="00D9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pthread_create()</a:t>
            </a:r>
            <a:r>
              <a:rPr lang="en-US" sz="1300" dirty="0">
                <a:solidFill>
                  <a:srgbClr val="C7C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each running a task concurrently. Before touching shared data, a thread locks a mutex with </a:t>
            </a:r>
            <a:r>
              <a:rPr lang="en-US" sz="1300" dirty="0">
                <a:solidFill>
                  <a:srgbClr val="00D9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pthread_mutex_lock()</a:t>
            </a:r>
            <a:r>
              <a:rPr lang="en-US" sz="1300" dirty="0">
                <a:solidFill>
                  <a:srgbClr val="C7C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and releases it with </a:t>
            </a:r>
            <a:r>
              <a:rPr lang="en-US" sz="1300" dirty="0">
                <a:solidFill>
                  <a:srgbClr val="00D9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pthread_mutex_unlock()</a:t>
            </a:r>
            <a:r>
              <a:rPr lang="en-US" sz="1300" dirty="0">
                <a:solidFill>
                  <a:srgbClr val="C7C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once done. The main thread waits for completion via </a:t>
            </a:r>
            <a:r>
              <a:rPr lang="en-US" sz="1300" dirty="0">
                <a:solidFill>
                  <a:srgbClr val="00D9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pthread_join()</a:t>
            </a:r>
            <a:r>
              <a:rPr lang="en-US" sz="1300" dirty="0">
                <a:solidFill>
                  <a:srgbClr val="C7C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before releasing all resources.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2880360"/>
            <a:ext cx="1371600" cy="1371600"/>
          </a:xfrm>
          <a:prstGeom prst="roundRect">
            <a:avLst>
              <a:gd name="adj" fmla="val 6000"/>
            </a:avLst>
          </a:prstGeom>
          <a:solidFill>
            <a:srgbClr val="252A4A"/>
          </a:solidFill>
          <a:ln w="12700">
            <a:solidFill>
              <a:srgbClr val="3A407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295351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C7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85800" y="3246120"/>
            <a:ext cx="1280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</a:t>
            </a:r>
            <a:endParaRPr lang="en-US" sz="115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2011680" y="2880360"/>
            <a:ext cx="213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6C7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2225040" y="2880360"/>
            <a:ext cx="1371600" cy="1371600"/>
          </a:xfrm>
          <a:prstGeom prst="roundRect">
            <a:avLst>
              <a:gd name="adj" fmla="val 6000"/>
            </a:avLst>
          </a:prstGeom>
          <a:solidFill>
            <a:srgbClr val="252A4A"/>
          </a:solidFill>
          <a:ln w="12700">
            <a:solidFill>
              <a:srgbClr val="3A407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316480" y="295351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C7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270760" y="3246120"/>
            <a:ext cx="1280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</a:t>
            </a:r>
            <a:endParaRPr lang="en-US" sz="115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Threads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3596640" y="2880360"/>
            <a:ext cx="213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6C7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3810000" y="2880360"/>
            <a:ext cx="1371600" cy="1371600"/>
          </a:xfrm>
          <a:prstGeom prst="roundRect">
            <a:avLst>
              <a:gd name="adj" fmla="val 6000"/>
            </a:avLst>
          </a:prstGeom>
          <a:solidFill>
            <a:srgbClr val="252A4A"/>
          </a:solidFill>
          <a:ln w="12700">
            <a:solidFill>
              <a:srgbClr val="3A407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901440" y="295351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C7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855720" y="3246120"/>
            <a:ext cx="1280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</a:t>
            </a:r>
            <a:endParaRPr lang="en-US" sz="115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Tasks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5181600" y="2880360"/>
            <a:ext cx="213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6C7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394960" y="2880360"/>
            <a:ext cx="1371600" cy="1371600"/>
          </a:xfrm>
          <a:prstGeom prst="roundRect">
            <a:avLst>
              <a:gd name="adj" fmla="val 6000"/>
            </a:avLst>
          </a:prstGeom>
          <a:solidFill>
            <a:srgbClr val="252A4A"/>
          </a:solidFill>
          <a:ln w="12700">
            <a:solidFill>
              <a:srgbClr val="3A407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0" y="295351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C7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440680" y="3246120"/>
            <a:ext cx="1280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Concurrent</a:t>
            </a:r>
            <a:endParaRPr lang="en-US" sz="115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6766560" y="2880360"/>
            <a:ext cx="213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6C7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6979920" y="2880360"/>
            <a:ext cx="1371600" cy="1371600"/>
          </a:xfrm>
          <a:prstGeom prst="roundRect">
            <a:avLst>
              <a:gd name="adj" fmla="val 6000"/>
            </a:avLst>
          </a:prstGeom>
          <a:solidFill>
            <a:srgbClr val="00D9A5"/>
          </a:solidFill>
          <a:ln w="12700">
            <a:solidFill>
              <a:srgbClr val="00D9A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071360" y="295351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025640" y="3246120"/>
            <a:ext cx="1280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Mutex-Protected</a:t>
            </a:r>
            <a:endParaRPr lang="en-US" sz="115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8351520" y="2880360"/>
            <a:ext cx="213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6C7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8564880" y="2880360"/>
            <a:ext cx="1371600" cy="1371600"/>
          </a:xfrm>
          <a:prstGeom prst="roundRect">
            <a:avLst>
              <a:gd name="adj" fmla="val 6000"/>
            </a:avLst>
          </a:prstGeom>
          <a:solidFill>
            <a:srgbClr val="252A4A"/>
          </a:solidFill>
          <a:ln w="12700">
            <a:solidFill>
              <a:srgbClr val="3A407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656320" y="295351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C7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8610600" y="3246120"/>
            <a:ext cx="1280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Thread</a:t>
            </a:r>
            <a:endParaRPr lang="en-US" sz="115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Completion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9936480" y="2880360"/>
            <a:ext cx="213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6C7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10149840" y="2880360"/>
            <a:ext cx="1371600" cy="1371600"/>
          </a:xfrm>
          <a:prstGeom prst="roundRect">
            <a:avLst>
              <a:gd name="adj" fmla="val 6000"/>
            </a:avLst>
          </a:prstGeom>
          <a:solidFill>
            <a:srgbClr val="252A4A"/>
          </a:solidFill>
          <a:ln w="12700">
            <a:solidFill>
              <a:srgbClr val="3A407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241280" y="295351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C7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10195560" y="3246120"/>
            <a:ext cx="1280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</a:t>
            </a:r>
            <a:endParaRPr lang="en-US" sz="115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640080" y="4892040"/>
            <a:ext cx="3502152" cy="1417320"/>
          </a:xfrm>
          <a:prstGeom prst="roundRect">
            <a:avLst>
              <a:gd name="adj" fmla="val 5161"/>
            </a:avLst>
          </a:prstGeom>
          <a:solidFill>
            <a:srgbClr val="252A4A"/>
          </a:solidFill>
          <a:ln/>
        </p:spPr>
      </p:sp>
      <p:sp>
        <p:nvSpPr>
          <p:cNvPr id="33" name="Text 31"/>
          <p:cNvSpPr/>
          <p:nvPr/>
        </p:nvSpPr>
        <p:spPr>
          <a:xfrm>
            <a:off x="868680" y="5029200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0D9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Worker threads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868680" y="5330952"/>
            <a:ext cx="3063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C7C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thread is assigned a task and runs it independently of the others.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4325112" y="4892040"/>
            <a:ext cx="3502152" cy="1417320"/>
          </a:xfrm>
          <a:prstGeom prst="roundRect">
            <a:avLst>
              <a:gd name="adj" fmla="val 5161"/>
            </a:avLst>
          </a:prstGeom>
          <a:solidFill>
            <a:srgbClr val="252A4A"/>
          </a:solidFill>
          <a:ln/>
        </p:spPr>
      </p:sp>
      <p:sp>
        <p:nvSpPr>
          <p:cNvPr id="36" name="Text 34"/>
          <p:cNvSpPr/>
          <p:nvPr/>
        </p:nvSpPr>
        <p:spPr>
          <a:xfrm>
            <a:off x="4553712" y="5029200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0D9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section</a:t>
            </a:r>
            <a:endParaRPr lang="en-US" sz="1250" dirty="0"/>
          </a:p>
        </p:txBody>
      </p:sp>
      <p:sp>
        <p:nvSpPr>
          <p:cNvPr id="37" name="Text 35"/>
          <p:cNvSpPr/>
          <p:nvPr/>
        </p:nvSpPr>
        <p:spPr>
          <a:xfrm>
            <a:off x="4553712" y="5330952"/>
            <a:ext cx="3063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C7C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Guarded by a mutex — only one thread can read or write shared data at a time.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8010144" y="4892040"/>
            <a:ext cx="3502152" cy="1417320"/>
          </a:xfrm>
          <a:prstGeom prst="roundRect">
            <a:avLst>
              <a:gd name="adj" fmla="val 5161"/>
            </a:avLst>
          </a:prstGeom>
          <a:solidFill>
            <a:srgbClr val="252A4A"/>
          </a:solidFill>
          <a:ln/>
        </p:spPr>
      </p:sp>
      <p:sp>
        <p:nvSpPr>
          <p:cNvPr id="39" name="Text 37"/>
          <p:cNvSpPr/>
          <p:nvPr/>
        </p:nvSpPr>
        <p:spPr>
          <a:xfrm>
            <a:off x="8238744" y="5029200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0D9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shutdown</a:t>
            </a:r>
            <a:endParaRPr lang="en-US" sz="1250" dirty="0"/>
          </a:p>
        </p:txBody>
      </p:sp>
      <p:sp>
        <p:nvSpPr>
          <p:cNvPr id="40" name="Text 38"/>
          <p:cNvSpPr/>
          <p:nvPr/>
        </p:nvSpPr>
        <p:spPr>
          <a:xfrm>
            <a:off x="8238744" y="5330952"/>
            <a:ext cx="3063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C7C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thread joins all workers, then destroys the mutex and releases resources.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89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MULTITHREADED LINUX APPLICATION  ·  OS &amp; SYSTEMS PROGRAMMING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9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00D9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·  OS CONCEPTS &amp; LINUX APIS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789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Core operating-systems concepts put into practice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3520440" cy="2011680"/>
          </a:xfrm>
          <a:prstGeom prst="roundRect">
            <a:avLst>
              <a:gd name="adj" fmla="val 4091"/>
            </a:avLst>
          </a:prstGeom>
          <a:solidFill>
            <a:srgbClr val="FFFFFF"/>
          </a:solidFill>
          <a:ln w="12700">
            <a:solidFill>
              <a:srgbClr val="E3E6E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1828800"/>
            <a:ext cx="457200" cy="457200"/>
          </a:xfrm>
          <a:prstGeom prst="ellipse">
            <a:avLst/>
          </a:prstGeom>
          <a:solidFill>
            <a:srgbClr val="1B1F3B"/>
          </a:solidFill>
          <a:ln/>
        </p:spPr>
      </p:sp>
      <p:pic>
        <p:nvPicPr>
          <p:cNvPr id="6" name="Image 0" descr="icons/users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2124" y="1952244"/>
            <a:ext cx="210312" cy="21031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63040" y="1801368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POSIX Threads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868680" y="2468880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E9E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pthread_create() / pthread_join() / pthread_exit()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868680" y="2807208"/>
            <a:ext cx="3063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A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Create, coordinate, and terminate worker threads.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4297680" y="1600200"/>
            <a:ext cx="3520440" cy="2011680"/>
          </a:xfrm>
          <a:prstGeom prst="roundRect">
            <a:avLst>
              <a:gd name="adj" fmla="val 4091"/>
            </a:avLst>
          </a:prstGeom>
          <a:solidFill>
            <a:srgbClr val="FFFFFF"/>
          </a:solidFill>
          <a:ln w="12700">
            <a:solidFill>
              <a:srgbClr val="E3E6EE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526280" y="1828800"/>
            <a:ext cx="457200" cy="457200"/>
          </a:xfrm>
          <a:prstGeom prst="ellipse">
            <a:avLst/>
          </a:prstGeom>
          <a:solidFill>
            <a:srgbClr val="1B1F3B"/>
          </a:solidFill>
          <a:ln/>
        </p:spPr>
      </p:sp>
      <p:pic>
        <p:nvPicPr>
          <p:cNvPr id="12" name="Image 1" descr="icons/lock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49724" y="1952244"/>
            <a:ext cx="210312" cy="21031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120640" y="1801368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Mutex (pthread_mutex_t)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4526280" y="2468880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E9E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pthread_mutex_lock() / unlock() / init() / destroy()</a:t>
            </a:r>
            <a:endParaRPr lang="en-US" sz="950" dirty="0"/>
          </a:p>
        </p:txBody>
      </p:sp>
      <p:sp>
        <p:nvSpPr>
          <p:cNvPr id="15" name="Text 11"/>
          <p:cNvSpPr/>
          <p:nvPr/>
        </p:nvSpPr>
        <p:spPr>
          <a:xfrm>
            <a:off x="4526280" y="2807208"/>
            <a:ext cx="3063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A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Protects shared resources across their full lifecycle.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7955280" y="1600200"/>
            <a:ext cx="3520440" cy="2011680"/>
          </a:xfrm>
          <a:prstGeom prst="roundRect">
            <a:avLst>
              <a:gd name="adj" fmla="val 4091"/>
            </a:avLst>
          </a:prstGeom>
          <a:solidFill>
            <a:srgbClr val="FFFFFF"/>
          </a:solidFill>
          <a:ln w="12700">
            <a:solidFill>
              <a:srgbClr val="E3E6EE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8183880" y="1828800"/>
            <a:ext cx="457200" cy="457200"/>
          </a:xfrm>
          <a:prstGeom prst="ellipse">
            <a:avLst/>
          </a:prstGeom>
          <a:solidFill>
            <a:srgbClr val="1B1F3B"/>
          </a:solidFill>
          <a:ln/>
        </p:spPr>
      </p:sp>
      <p:pic>
        <p:nvPicPr>
          <p:cNvPr id="18" name="Image 2" descr="icons/shield_FFFF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07324" y="1952244"/>
            <a:ext cx="210312" cy="210312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778240" y="1801368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Section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8183880" y="2468880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E9E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Mutual exclusion</a:t>
            </a:r>
            <a:endParaRPr lang="en-US" sz="950" dirty="0"/>
          </a:p>
        </p:txBody>
      </p:sp>
      <p:sp>
        <p:nvSpPr>
          <p:cNvPr id="21" name="Text 16"/>
          <p:cNvSpPr/>
          <p:nvPr/>
        </p:nvSpPr>
        <p:spPr>
          <a:xfrm>
            <a:off x="8183880" y="2807208"/>
            <a:ext cx="3063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A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one thread may enter the guarded section at a time.</a:t>
            </a:r>
            <a:endParaRPr lang="en-US" sz="1050" dirty="0"/>
          </a:p>
        </p:txBody>
      </p:sp>
      <p:sp>
        <p:nvSpPr>
          <p:cNvPr id="22" name="Shape 17"/>
          <p:cNvSpPr/>
          <p:nvPr/>
        </p:nvSpPr>
        <p:spPr>
          <a:xfrm>
            <a:off x="640080" y="3794760"/>
            <a:ext cx="3520440" cy="2011680"/>
          </a:xfrm>
          <a:prstGeom prst="roundRect">
            <a:avLst>
              <a:gd name="adj" fmla="val 4091"/>
            </a:avLst>
          </a:prstGeom>
          <a:solidFill>
            <a:srgbClr val="FFFFFF"/>
          </a:solidFill>
          <a:ln w="12700">
            <a:solidFill>
              <a:srgbClr val="E3E6EE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868680" y="4023360"/>
            <a:ext cx="457200" cy="457200"/>
          </a:xfrm>
          <a:prstGeom prst="ellipse">
            <a:avLst/>
          </a:prstGeom>
          <a:solidFill>
            <a:srgbClr val="1B1F3B"/>
          </a:solidFill>
          <a:ln/>
        </p:spPr>
      </p:sp>
      <p:pic>
        <p:nvPicPr>
          <p:cNvPr id="24" name="Image 3" descr="icons/cpu_FFFFFF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92124" y="4146804"/>
            <a:ext cx="210312" cy="210312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1463040" y="3995928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Concurrency</a:t>
            </a:r>
            <a:endParaRPr lang="en-US" sz="1300" dirty="0"/>
          </a:p>
        </p:txBody>
      </p:sp>
      <p:sp>
        <p:nvSpPr>
          <p:cNvPr id="26" name="Text 20"/>
          <p:cNvSpPr/>
          <p:nvPr/>
        </p:nvSpPr>
        <p:spPr>
          <a:xfrm>
            <a:off x="868680" y="4663440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E9E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Simultaneous thread execution</a:t>
            </a:r>
            <a:endParaRPr lang="en-US" sz="950" dirty="0"/>
          </a:p>
        </p:txBody>
      </p:sp>
      <p:sp>
        <p:nvSpPr>
          <p:cNvPr id="27" name="Text 21"/>
          <p:cNvSpPr/>
          <p:nvPr/>
        </p:nvSpPr>
        <p:spPr>
          <a:xfrm>
            <a:off x="868680" y="5001768"/>
            <a:ext cx="3063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A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Surfaces the challenges of shared-resource access.</a:t>
            </a:r>
            <a:endParaRPr lang="en-US" sz="1050" dirty="0"/>
          </a:p>
        </p:txBody>
      </p:sp>
      <p:sp>
        <p:nvSpPr>
          <p:cNvPr id="28" name="Shape 22"/>
          <p:cNvSpPr/>
          <p:nvPr/>
        </p:nvSpPr>
        <p:spPr>
          <a:xfrm>
            <a:off x="4297680" y="3794760"/>
            <a:ext cx="3520440" cy="2011680"/>
          </a:xfrm>
          <a:prstGeom prst="roundRect">
            <a:avLst>
              <a:gd name="adj" fmla="val 4091"/>
            </a:avLst>
          </a:prstGeom>
          <a:solidFill>
            <a:srgbClr val="FFFFFF"/>
          </a:solidFill>
          <a:ln w="12700">
            <a:solidFill>
              <a:srgbClr val="E3E6EE"/>
            </a:solidFill>
            <a:prstDash val="solid"/>
          </a:ln>
        </p:spPr>
      </p:sp>
      <p:sp>
        <p:nvSpPr>
          <p:cNvPr id="29" name="Shape 23"/>
          <p:cNvSpPr/>
          <p:nvPr/>
        </p:nvSpPr>
        <p:spPr>
          <a:xfrm>
            <a:off x="4526280" y="4023360"/>
            <a:ext cx="457200" cy="457200"/>
          </a:xfrm>
          <a:prstGeom prst="ellipse">
            <a:avLst/>
          </a:prstGeom>
          <a:solidFill>
            <a:srgbClr val="1B1F3B"/>
          </a:solidFill>
          <a:ln/>
        </p:spPr>
      </p:sp>
      <p:pic>
        <p:nvPicPr>
          <p:cNvPr id="30" name="Image 4" descr="icons/branch_FFFFFF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49724" y="4146804"/>
            <a:ext cx="210312" cy="210312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5120640" y="3995928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Race Conditions</a:t>
            </a:r>
            <a:endParaRPr lang="en-US" sz="1300" dirty="0"/>
          </a:p>
        </p:txBody>
      </p:sp>
      <p:sp>
        <p:nvSpPr>
          <p:cNvPr id="32" name="Text 25"/>
          <p:cNvSpPr/>
          <p:nvPr/>
        </p:nvSpPr>
        <p:spPr>
          <a:xfrm>
            <a:off x="4526280" y="4663440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E9E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Unsynchronized shared access</a:t>
            </a:r>
            <a:endParaRPr lang="en-US" sz="950" dirty="0"/>
          </a:p>
        </p:txBody>
      </p:sp>
      <p:sp>
        <p:nvSpPr>
          <p:cNvPr id="33" name="Text 26"/>
          <p:cNvSpPr/>
          <p:nvPr/>
        </p:nvSpPr>
        <p:spPr>
          <a:xfrm>
            <a:off x="4526280" y="5001768"/>
            <a:ext cx="3063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A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Demonstrated when threads modify data without coordination.</a:t>
            </a:r>
            <a:endParaRPr lang="en-US" sz="1050" dirty="0"/>
          </a:p>
        </p:txBody>
      </p:sp>
      <p:sp>
        <p:nvSpPr>
          <p:cNvPr id="34" name="Shape 27"/>
          <p:cNvSpPr/>
          <p:nvPr/>
        </p:nvSpPr>
        <p:spPr>
          <a:xfrm>
            <a:off x="7955280" y="3794760"/>
            <a:ext cx="3520440" cy="2011680"/>
          </a:xfrm>
          <a:prstGeom prst="roundRect">
            <a:avLst>
              <a:gd name="adj" fmla="val 4091"/>
            </a:avLst>
          </a:prstGeom>
          <a:solidFill>
            <a:srgbClr val="FFFFFF"/>
          </a:solidFill>
          <a:ln w="12700">
            <a:solidFill>
              <a:srgbClr val="E3E6EE"/>
            </a:solidFill>
            <a:prstDash val="solid"/>
          </a:ln>
        </p:spPr>
      </p:sp>
      <p:sp>
        <p:nvSpPr>
          <p:cNvPr id="35" name="Shape 28"/>
          <p:cNvSpPr/>
          <p:nvPr/>
        </p:nvSpPr>
        <p:spPr>
          <a:xfrm>
            <a:off x="8183880" y="4023360"/>
            <a:ext cx="457200" cy="457200"/>
          </a:xfrm>
          <a:prstGeom prst="ellipse">
            <a:avLst/>
          </a:prstGeom>
          <a:solidFill>
            <a:srgbClr val="1B1F3B"/>
          </a:solidFill>
          <a:ln/>
        </p:spPr>
      </p:sp>
      <p:pic>
        <p:nvPicPr>
          <p:cNvPr id="36" name="Image 5" descr="icons/check_FFFFFF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07324" y="4146804"/>
            <a:ext cx="210312" cy="210312"/>
          </a:xfrm>
          <a:prstGeom prst="rect">
            <a:avLst/>
          </a:prstGeom>
        </p:spPr>
      </p:pic>
      <p:sp>
        <p:nvSpPr>
          <p:cNvPr id="37" name="Text 29"/>
          <p:cNvSpPr/>
          <p:nvPr/>
        </p:nvSpPr>
        <p:spPr>
          <a:xfrm>
            <a:off x="8778240" y="3995928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Deadlock Awareness</a:t>
            </a:r>
            <a:endParaRPr lang="en-US" sz="1300" dirty="0"/>
          </a:p>
        </p:txBody>
      </p:sp>
      <p:sp>
        <p:nvSpPr>
          <p:cNvPr id="38" name="Text 30"/>
          <p:cNvSpPr/>
          <p:nvPr/>
        </p:nvSpPr>
        <p:spPr>
          <a:xfrm>
            <a:off x="8183880" y="4663440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E9E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Design-time consideration</a:t>
            </a:r>
            <a:endParaRPr lang="en-US" sz="950" dirty="0"/>
          </a:p>
        </p:txBody>
      </p:sp>
      <p:sp>
        <p:nvSpPr>
          <p:cNvPr id="39" name="Text 31"/>
          <p:cNvSpPr/>
          <p:nvPr/>
        </p:nvSpPr>
        <p:spPr>
          <a:xfrm>
            <a:off x="8183880" y="5001768"/>
            <a:ext cx="3063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A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Mutex usage is checked so it can't stall the whole system.</a:t>
            </a:r>
            <a:endParaRPr lang="en-US" sz="1050" dirty="0"/>
          </a:p>
        </p:txBody>
      </p:sp>
      <p:sp>
        <p:nvSpPr>
          <p:cNvPr id="40" name="Text 32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A6AD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MULTITHREADED LINUX APPLICATION  ·  OS &amp; SYSTEMS PROGRAMMING</a:t>
            </a:r>
            <a:endParaRPr lang="en-US" sz="900" dirty="0"/>
          </a:p>
        </p:txBody>
      </p:sp>
      <p:sp>
        <p:nvSpPr>
          <p:cNvPr id="41" name="Text 33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6AD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00D9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·  INDIVIDUAL CONTRIBUTION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Team 4 — who's building what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3502152" cy="4206240"/>
          </a:xfrm>
          <a:prstGeom prst="roundRect">
            <a:avLst>
              <a:gd name="adj" fmla="val 2611"/>
            </a:avLst>
          </a:prstGeom>
          <a:solidFill>
            <a:srgbClr val="FFFFFF"/>
          </a:solidFill>
          <a:ln w="12700">
            <a:solidFill>
              <a:srgbClr val="E3E6E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2057400"/>
            <a:ext cx="594360" cy="594360"/>
          </a:xfrm>
          <a:prstGeom prst="ellipse">
            <a:avLst/>
          </a:prstGeom>
          <a:solidFill>
            <a:srgbClr val="1B1F3B"/>
          </a:solidFill>
          <a:ln/>
        </p:spPr>
      </p:sp>
      <p:pic>
        <p:nvPicPr>
          <p:cNvPr id="6" name="Image 0" descr="icons/users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4877" y="2217877"/>
            <a:ext cx="273406" cy="27340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2788920"/>
            <a:ext cx="29535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 err="1" smtClean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M.Gayatri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914400" y="3200400"/>
            <a:ext cx="2953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 smtClean="0">
                <a:solidFill>
                  <a:srgbClr val="5A62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25200300175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914400" y="3611880"/>
            <a:ext cx="2953512" cy="0"/>
          </a:xfrm>
          <a:prstGeom prst="line">
            <a:avLst/>
          </a:prstGeom>
          <a:noFill/>
          <a:ln w="12700">
            <a:solidFill>
              <a:srgbClr val="E3E6EE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914400" y="3749040"/>
            <a:ext cx="2953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20" dirty="0">
                <a:solidFill>
                  <a:srgbClr val="0E9E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RESPONSIBILITY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914400" y="4023360"/>
            <a:ext cx="295351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5A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the overall application and implement POSIX thread creation and management using pthread_create() and pthread_join().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4270248" y="1783080"/>
            <a:ext cx="3502152" cy="4206240"/>
          </a:xfrm>
          <a:prstGeom prst="roundRect">
            <a:avLst>
              <a:gd name="adj" fmla="val 2611"/>
            </a:avLst>
          </a:prstGeom>
          <a:solidFill>
            <a:srgbClr val="FFFFFF"/>
          </a:solidFill>
          <a:ln w="12700">
            <a:solidFill>
              <a:srgbClr val="E3E6EE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544568" y="2057400"/>
            <a:ext cx="594360" cy="594360"/>
          </a:xfrm>
          <a:prstGeom prst="ellipse">
            <a:avLst/>
          </a:prstGeom>
          <a:solidFill>
            <a:srgbClr val="1B1F3B"/>
          </a:solidFill>
          <a:ln/>
        </p:spPr>
      </p:sp>
      <p:pic>
        <p:nvPicPr>
          <p:cNvPr id="14" name="Image 1" descr="icons/users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05045" y="2217877"/>
            <a:ext cx="273406" cy="273406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4544568" y="2788920"/>
            <a:ext cx="29535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 err="1" smtClean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J.Nanditha</a:t>
            </a:r>
            <a:endParaRPr lang="en-US" sz="1550" dirty="0"/>
          </a:p>
        </p:txBody>
      </p:sp>
      <p:sp>
        <p:nvSpPr>
          <p:cNvPr id="16" name="Text 12"/>
          <p:cNvSpPr/>
          <p:nvPr/>
        </p:nvSpPr>
        <p:spPr>
          <a:xfrm>
            <a:off x="4544568" y="3200400"/>
            <a:ext cx="2953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 smtClean="0">
                <a:solidFill>
                  <a:srgbClr val="5A6270"/>
                </a:solidFill>
                <a:latin typeface="Courier New" pitchFamily="34" charset="0"/>
                <a:cs typeface="Courier New" pitchFamily="34" charset="-120"/>
              </a:rPr>
              <a:t>2520030013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4544568" y="3611880"/>
            <a:ext cx="2953512" cy="0"/>
          </a:xfrm>
          <a:prstGeom prst="line">
            <a:avLst/>
          </a:prstGeom>
          <a:noFill/>
          <a:ln w="12700">
            <a:solidFill>
              <a:srgbClr val="E3E6EE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4544568" y="3749040"/>
            <a:ext cx="2953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20" dirty="0">
                <a:solidFill>
                  <a:srgbClr val="0E9E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RESPONSIBILITY</a:t>
            </a:r>
            <a:endParaRPr lang="en-US" sz="1000" dirty="0"/>
          </a:p>
        </p:txBody>
      </p:sp>
      <p:sp>
        <p:nvSpPr>
          <p:cNvPr id="19" name="Text 15"/>
          <p:cNvSpPr/>
          <p:nvPr/>
        </p:nvSpPr>
        <p:spPr>
          <a:xfrm>
            <a:off x="4544568" y="4023360"/>
            <a:ext cx="295351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5A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mutex-based synchronization using pthread_mutex_lock() and pthread_mutex_unlock(), ensuring safe access to shared resources.</a:t>
            </a:r>
            <a:endParaRPr lang="en-US" sz="1200" dirty="0"/>
          </a:p>
        </p:txBody>
      </p:sp>
      <p:sp>
        <p:nvSpPr>
          <p:cNvPr id="20" name="Shape 16"/>
          <p:cNvSpPr/>
          <p:nvPr/>
        </p:nvSpPr>
        <p:spPr>
          <a:xfrm>
            <a:off x="7900416" y="1783080"/>
            <a:ext cx="3502152" cy="4206240"/>
          </a:xfrm>
          <a:prstGeom prst="roundRect">
            <a:avLst>
              <a:gd name="adj" fmla="val 2611"/>
            </a:avLst>
          </a:prstGeom>
          <a:solidFill>
            <a:srgbClr val="FFFFFF"/>
          </a:solidFill>
          <a:ln w="12700">
            <a:solidFill>
              <a:srgbClr val="E3E6EE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8174736" y="2057400"/>
            <a:ext cx="594360" cy="594360"/>
          </a:xfrm>
          <a:prstGeom prst="ellipse">
            <a:avLst/>
          </a:prstGeom>
          <a:solidFill>
            <a:srgbClr val="1B1F3B"/>
          </a:solidFill>
          <a:ln/>
        </p:spPr>
      </p:sp>
      <p:pic>
        <p:nvPicPr>
          <p:cNvPr id="22" name="Image 2" descr="icons/users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35213" y="2217877"/>
            <a:ext cx="273406" cy="273406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8174736" y="2788920"/>
            <a:ext cx="29535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 err="1" smtClean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M.Gayatri</a:t>
            </a:r>
            <a:endParaRPr lang="en-US" sz="1550" dirty="0"/>
          </a:p>
        </p:txBody>
      </p:sp>
      <p:sp>
        <p:nvSpPr>
          <p:cNvPr id="24" name="Text 19"/>
          <p:cNvSpPr/>
          <p:nvPr/>
        </p:nvSpPr>
        <p:spPr>
          <a:xfrm>
            <a:off x="8174736" y="3200400"/>
            <a:ext cx="2953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 smtClean="0">
                <a:solidFill>
                  <a:srgbClr val="5A62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2520030013</a:t>
            </a:r>
            <a:endParaRPr lang="en-US" sz="1100" dirty="0"/>
          </a:p>
        </p:txBody>
      </p:sp>
      <p:sp>
        <p:nvSpPr>
          <p:cNvPr id="25" name="Shape 20"/>
          <p:cNvSpPr/>
          <p:nvPr/>
        </p:nvSpPr>
        <p:spPr>
          <a:xfrm>
            <a:off x="8174736" y="3611880"/>
            <a:ext cx="2953512" cy="0"/>
          </a:xfrm>
          <a:prstGeom prst="line">
            <a:avLst/>
          </a:prstGeom>
          <a:noFill/>
          <a:ln w="12700">
            <a:solidFill>
              <a:srgbClr val="E3E6EE"/>
            </a:solidFill>
            <a:prstDash val="solid"/>
          </a:ln>
        </p:spPr>
      </p:sp>
      <p:sp>
        <p:nvSpPr>
          <p:cNvPr id="26" name="Text 21"/>
          <p:cNvSpPr/>
          <p:nvPr/>
        </p:nvSpPr>
        <p:spPr>
          <a:xfrm>
            <a:off x="8174736" y="3749040"/>
            <a:ext cx="2953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20" dirty="0">
                <a:solidFill>
                  <a:srgbClr val="0E9E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RESPONSIBILITY</a:t>
            </a:r>
            <a:endParaRPr lang="en-US" sz="1000" dirty="0"/>
          </a:p>
        </p:txBody>
      </p:sp>
      <p:sp>
        <p:nvSpPr>
          <p:cNvPr id="27" name="Text 22"/>
          <p:cNvSpPr/>
          <p:nvPr/>
        </p:nvSpPr>
        <p:spPr>
          <a:xfrm>
            <a:off x="8174736" y="4023360"/>
            <a:ext cx="295351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5A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 task-processing logic, integrate the multithreaded modules, run testing, and document the project.</a:t>
            </a:r>
            <a:endParaRPr lang="en-US" sz="1200" dirty="0"/>
          </a:p>
        </p:txBody>
      </p:sp>
      <p:sp>
        <p:nvSpPr>
          <p:cNvPr id="28" name="Text 23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A6AD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MULTITHREADED LINUX APPLICATION  ·  OS &amp; SYSTEMS PROGRAMMING</a:t>
            </a:r>
            <a:endParaRPr lang="en-US" sz="900" dirty="0"/>
          </a:p>
        </p:txBody>
      </p:sp>
      <p:sp>
        <p:nvSpPr>
          <p:cNvPr id="29" name="Text 24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6AD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B1F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00D9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 ·  TOOLS, PLATFORMS &amp; SOFTWARE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build &amp; debug stack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2587752" cy="1965960"/>
          </a:xfrm>
          <a:prstGeom prst="roundRect">
            <a:avLst>
              <a:gd name="adj" fmla="val 4186"/>
            </a:avLst>
          </a:prstGeom>
          <a:solidFill>
            <a:srgbClr val="252A4A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1874520"/>
            <a:ext cx="502920" cy="502920"/>
          </a:xfrm>
          <a:prstGeom prst="ellipse">
            <a:avLst/>
          </a:prstGeom>
          <a:solidFill>
            <a:srgbClr val="1B1F3B"/>
          </a:solidFill>
          <a:ln/>
        </p:spPr>
      </p:sp>
      <p:pic>
        <p:nvPicPr>
          <p:cNvPr id="6" name="Image 0" descr="icons/linux_00D9A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4468" y="2010308"/>
            <a:ext cx="231343" cy="23134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41248" y="2514600"/>
            <a:ext cx="21854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Linux / Ubuntu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841248" y="2834640"/>
            <a:ext cx="218541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A6AD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environment for developing, compiling, and running the application.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3337560" y="1645920"/>
            <a:ext cx="2587752" cy="1965960"/>
          </a:xfrm>
          <a:prstGeom prst="roundRect">
            <a:avLst>
              <a:gd name="adj" fmla="val 4186"/>
            </a:avLst>
          </a:prstGeom>
          <a:solidFill>
            <a:srgbClr val="252A4A"/>
          </a:solidFill>
          <a:ln/>
        </p:spPr>
      </p:sp>
      <p:sp>
        <p:nvSpPr>
          <p:cNvPr id="10" name="Shape 7"/>
          <p:cNvSpPr/>
          <p:nvPr/>
        </p:nvSpPr>
        <p:spPr>
          <a:xfrm>
            <a:off x="3566160" y="1874520"/>
            <a:ext cx="502920" cy="502920"/>
          </a:xfrm>
          <a:prstGeom prst="ellipse">
            <a:avLst/>
          </a:prstGeom>
          <a:solidFill>
            <a:srgbClr val="1B1F3B"/>
          </a:solidFill>
          <a:ln/>
        </p:spPr>
      </p:sp>
      <p:pic>
        <p:nvPicPr>
          <p:cNvPr id="11" name="Image 1" descr="icons/tool_00D9A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01948" y="2010308"/>
            <a:ext cx="231343" cy="231343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538728" y="2514600"/>
            <a:ext cx="21854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/ C++</a:t>
            </a:r>
            <a:endParaRPr lang="en-US" sz="1250" dirty="0"/>
          </a:p>
        </p:txBody>
      </p:sp>
      <p:sp>
        <p:nvSpPr>
          <p:cNvPr id="13" name="Text 9"/>
          <p:cNvSpPr/>
          <p:nvPr/>
        </p:nvSpPr>
        <p:spPr>
          <a:xfrm>
            <a:off x="3538728" y="2834640"/>
            <a:ext cx="218541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A6AD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 used to implement threads and synchronization logic.</a:t>
            </a:r>
            <a:endParaRPr lang="en-US" sz="950" dirty="0"/>
          </a:p>
        </p:txBody>
      </p:sp>
      <p:sp>
        <p:nvSpPr>
          <p:cNvPr id="14" name="Shape 10"/>
          <p:cNvSpPr/>
          <p:nvPr/>
        </p:nvSpPr>
        <p:spPr>
          <a:xfrm>
            <a:off x="6035040" y="1645920"/>
            <a:ext cx="2587752" cy="1965960"/>
          </a:xfrm>
          <a:prstGeom prst="roundRect">
            <a:avLst>
              <a:gd name="adj" fmla="val 4186"/>
            </a:avLst>
          </a:prstGeom>
          <a:solidFill>
            <a:srgbClr val="252A4A"/>
          </a:solidFill>
          <a:ln/>
        </p:spPr>
      </p:sp>
      <p:sp>
        <p:nvSpPr>
          <p:cNvPr id="15" name="Shape 11"/>
          <p:cNvSpPr/>
          <p:nvPr/>
        </p:nvSpPr>
        <p:spPr>
          <a:xfrm>
            <a:off x="6263640" y="1874520"/>
            <a:ext cx="502920" cy="502920"/>
          </a:xfrm>
          <a:prstGeom prst="ellipse">
            <a:avLst/>
          </a:prstGeom>
          <a:solidFill>
            <a:srgbClr val="1B1F3B"/>
          </a:solidFill>
          <a:ln/>
        </p:spPr>
      </p:sp>
      <p:pic>
        <p:nvPicPr>
          <p:cNvPr id="16" name="Image 2" descr="icons/users_00D9A5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99428" y="2010308"/>
            <a:ext cx="231343" cy="231343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236208" y="2514600"/>
            <a:ext cx="21854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POSIX Threads</a:t>
            </a:r>
            <a:endParaRPr lang="en-US" sz="1250" dirty="0"/>
          </a:p>
        </p:txBody>
      </p:sp>
      <p:sp>
        <p:nvSpPr>
          <p:cNvPr id="18" name="Text 13"/>
          <p:cNvSpPr/>
          <p:nvPr/>
        </p:nvSpPr>
        <p:spPr>
          <a:xfrm>
            <a:off x="6236208" y="2834640"/>
            <a:ext cx="218541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A6AD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Creates, manages, and terminates multiple concurrent threads.</a:t>
            </a:r>
            <a:endParaRPr lang="en-US" sz="950" dirty="0"/>
          </a:p>
        </p:txBody>
      </p:sp>
      <p:sp>
        <p:nvSpPr>
          <p:cNvPr id="19" name="Shape 14"/>
          <p:cNvSpPr/>
          <p:nvPr/>
        </p:nvSpPr>
        <p:spPr>
          <a:xfrm>
            <a:off x="8732520" y="1645920"/>
            <a:ext cx="2587752" cy="1965960"/>
          </a:xfrm>
          <a:prstGeom prst="roundRect">
            <a:avLst>
              <a:gd name="adj" fmla="val 4186"/>
            </a:avLst>
          </a:prstGeom>
          <a:solidFill>
            <a:srgbClr val="252A4A"/>
          </a:solidFill>
          <a:ln/>
        </p:spPr>
      </p:sp>
      <p:sp>
        <p:nvSpPr>
          <p:cNvPr id="20" name="Shape 15"/>
          <p:cNvSpPr/>
          <p:nvPr/>
        </p:nvSpPr>
        <p:spPr>
          <a:xfrm>
            <a:off x="8961120" y="1874520"/>
            <a:ext cx="502920" cy="502920"/>
          </a:xfrm>
          <a:prstGeom prst="ellipse">
            <a:avLst/>
          </a:prstGeom>
          <a:solidFill>
            <a:srgbClr val="1B1F3B"/>
          </a:solidFill>
          <a:ln/>
        </p:spPr>
      </p:sp>
      <p:pic>
        <p:nvPicPr>
          <p:cNvPr id="21" name="Image 3" descr="icons/lock_00D9A5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96908" y="2010308"/>
            <a:ext cx="231343" cy="231343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8933688" y="2514600"/>
            <a:ext cx="21854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POSIX Mutexes</a:t>
            </a:r>
            <a:endParaRPr lang="en-US" sz="1250" dirty="0"/>
          </a:p>
        </p:txBody>
      </p:sp>
      <p:sp>
        <p:nvSpPr>
          <p:cNvPr id="23" name="Text 17"/>
          <p:cNvSpPr/>
          <p:nvPr/>
        </p:nvSpPr>
        <p:spPr>
          <a:xfrm>
            <a:off x="8933688" y="2834640"/>
            <a:ext cx="218541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A6AD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Synchronizes threads and protects shared resources.</a:t>
            </a:r>
            <a:endParaRPr lang="en-US" sz="950" dirty="0"/>
          </a:p>
        </p:txBody>
      </p:sp>
      <p:sp>
        <p:nvSpPr>
          <p:cNvPr id="24" name="Shape 18"/>
          <p:cNvSpPr/>
          <p:nvPr/>
        </p:nvSpPr>
        <p:spPr>
          <a:xfrm>
            <a:off x="640080" y="3749040"/>
            <a:ext cx="2587752" cy="1965960"/>
          </a:xfrm>
          <a:prstGeom prst="roundRect">
            <a:avLst>
              <a:gd name="adj" fmla="val 4186"/>
            </a:avLst>
          </a:prstGeom>
          <a:solidFill>
            <a:srgbClr val="252A4A"/>
          </a:solidFill>
          <a:ln/>
        </p:spPr>
      </p:sp>
      <p:sp>
        <p:nvSpPr>
          <p:cNvPr id="25" name="Shape 19"/>
          <p:cNvSpPr/>
          <p:nvPr/>
        </p:nvSpPr>
        <p:spPr>
          <a:xfrm>
            <a:off x="868680" y="3977640"/>
            <a:ext cx="502920" cy="502920"/>
          </a:xfrm>
          <a:prstGeom prst="ellipse">
            <a:avLst/>
          </a:prstGeom>
          <a:solidFill>
            <a:srgbClr val="1B1F3B"/>
          </a:solidFill>
          <a:ln/>
        </p:spPr>
      </p:sp>
      <p:pic>
        <p:nvPicPr>
          <p:cNvPr id="26" name="Image 4" descr="icons/cpu_00D9A5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04468" y="4113428"/>
            <a:ext cx="231343" cy="231343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841248" y="4617720"/>
            <a:ext cx="21854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GCC Compiler</a:t>
            </a:r>
            <a:endParaRPr lang="en-US" sz="1250" dirty="0"/>
          </a:p>
        </p:txBody>
      </p:sp>
      <p:sp>
        <p:nvSpPr>
          <p:cNvPr id="28" name="Text 21"/>
          <p:cNvSpPr/>
          <p:nvPr/>
        </p:nvSpPr>
        <p:spPr>
          <a:xfrm>
            <a:off x="841248" y="4937760"/>
            <a:ext cx="218541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A6AD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Compiles the source and links the POSIX thread library.</a:t>
            </a:r>
            <a:endParaRPr lang="en-US" sz="950" dirty="0"/>
          </a:p>
        </p:txBody>
      </p:sp>
      <p:sp>
        <p:nvSpPr>
          <p:cNvPr id="29" name="Shape 22"/>
          <p:cNvSpPr/>
          <p:nvPr/>
        </p:nvSpPr>
        <p:spPr>
          <a:xfrm>
            <a:off x="3337560" y="3749040"/>
            <a:ext cx="2587752" cy="1965960"/>
          </a:xfrm>
          <a:prstGeom prst="roundRect">
            <a:avLst>
              <a:gd name="adj" fmla="val 4186"/>
            </a:avLst>
          </a:prstGeom>
          <a:solidFill>
            <a:srgbClr val="252A4A"/>
          </a:solidFill>
          <a:ln/>
        </p:spPr>
      </p:sp>
      <p:sp>
        <p:nvSpPr>
          <p:cNvPr id="30" name="Shape 23"/>
          <p:cNvSpPr/>
          <p:nvPr/>
        </p:nvSpPr>
        <p:spPr>
          <a:xfrm>
            <a:off x="3566160" y="3977640"/>
            <a:ext cx="502920" cy="502920"/>
          </a:xfrm>
          <a:prstGeom prst="ellipse">
            <a:avLst/>
          </a:prstGeom>
          <a:solidFill>
            <a:srgbClr val="1B1F3B"/>
          </a:solidFill>
          <a:ln/>
        </p:spPr>
      </p:sp>
      <p:pic>
        <p:nvPicPr>
          <p:cNvPr id="31" name="Image 5" descr="icons/layers_00D9A5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701948" y="4113428"/>
            <a:ext cx="231343" cy="231343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3538728" y="4617720"/>
            <a:ext cx="21854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GNU Make</a:t>
            </a:r>
            <a:endParaRPr lang="en-US" sz="1250" dirty="0"/>
          </a:p>
        </p:txBody>
      </p:sp>
      <p:sp>
        <p:nvSpPr>
          <p:cNvPr id="33" name="Text 25"/>
          <p:cNvSpPr/>
          <p:nvPr/>
        </p:nvSpPr>
        <p:spPr>
          <a:xfrm>
            <a:off x="3538728" y="4937760"/>
            <a:ext cx="218541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A6AD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Automates and streamlines the build process.</a:t>
            </a:r>
            <a:endParaRPr lang="en-US" sz="950" dirty="0"/>
          </a:p>
        </p:txBody>
      </p:sp>
      <p:sp>
        <p:nvSpPr>
          <p:cNvPr id="34" name="Shape 26"/>
          <p:cNvSpPr/>
          <p:nvPr/>
        </p:nvSpPr>
        <p:spPr>
          <a:xfrm>
            <a:off x="6035040" y="3749040"/>
            <a:ext cx="2587752" cy="1965960"/>
          </a:xfrm>
          <a:prstGeom prst="roundRect">
            <a:avLst>
              <a:gd name="adj" fmla="val 4186"/>
            </a:avLst>
          </a:prstGeom>
          <a:solidFill>
            <a:srgbClr val="252A4A"/>
          </a:solidFill>
          <a:ln/>
        </p:spPr>
      </p:sp>
      <p:sp>
        <p:nvSpPr>
          <p:cNvPr id="35" name="Shape 27"/>
          <p:cNvSpPr/>
          <p:nvPr/>
        </p:nvSpPr>
        <p:spPr>
          <a:xfrm>
            <a:off x="6263640" y="3977640"/>
            <a:ext cx="502920" cy="502920"/>
          </a:xfrm>
          <a:prstGeom prst="ellipse">
            <a:avLst/>
          </a:prstGeom>
          <a:solidFill>
            <a:srgbClr val="1B1F3B"/>
          </a:solidFill>
          <a:ln/>
        </p:spPr>
      </p:sp>
      <p:pic>
        <p:nvPicPr>
          <p:cNvPr id="36" name="Image 6" descr="icons/target_00D9A5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399428" y="4113428"/>
            <a:ext cx="231343" cy="231343"/>
          </a:xfrm>
          <a:prstGeom prst="rect">
            <a:avLst/>
          </a:prstGeom>
        </p:spPr>
      </p:pic>
      <p:sp>
        <p:nvSpPr>
          <p:cNvPr id="37" name="Text 28"/>
          <p:cNvSpPr/>
          <p:nvPr/>
        </p:nvSpPr>
        <p:spPr>
          <a:xfrm>
            <a:off x="6236208" y="4617720"/>
            <a:ext cx="21854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GDB</a:t>
            </a:r>
            <a:endParaRPr lang="en-US" sz="1250" dirty="0"/>
          </a:p>
        </p:txBody>
      </p:sp>
      <p:sp>
        <p:nvSpPr>
          <p:cNvPr id="38" name="Text 29"/>
          <p:cNvSpPr/>
          <p:nvPr/>
        </p:nvSpPr>
        <p:spPr>
          <a:xfrm>
            <a:off x="6236208" y="4937760"/>
            <a:ext cx="218541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A6AD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Debugs the application and traces thread-related issues.</a:t>
            </a:r>
            <a:endParaRPr lang="en-US" sz="950" dirty="0"/>
          </a:p>
        </p:txBody>
      </p:sp>
      <p:sp>
        <p:nvSpPr>
          <p:cNvPr id="39" name="Shape 30"/>
          <p:cNvSpPr/>
          <p:nvPr/>
        </p:nvSpPr>
        <p:spPr>
          <a:xfrm>
            <a:off x="8732520" y="3749040"/>
            <a:ext cx="2587752" cy="1965960"/>
          </a:xfrm>
          <a:prstGeom prst="roundRect">
            <a:avLst>
              <a:gd name="adj" fmla="val 4186"/>
            </a:avLst>
          </a:prstGeom>
          <a:solidFill>
            <a:srgbClr val="252A4A"/>
          </a:solidFill>
          <a:ln/>
        </p:spPr>
      </p:sp>
      <p:sp>
        <p:nvSpPr>
          <p:cNvPr id="40" name="Shape 31"/>
          <p:cNvSpPr/>
          <p:nvPr/>
        </p:nvSpPr>
        <p:spPr>
          <a:xfrm>
            <a:off x="8961120" y="3977640"/>
            <a:ext cx="502920" cy="502920"/>
          </a:xfrm>
          <a:prstGeom prst="ellipse">
            <a:avLst/>
          </a:prstGeom>
          <a:solidFill>
            <a:srgbClr val="1B1F3B"/>
          </a:solidFill>
          <a:ln/>
        </p:spPr>
      </p:sp>
      <p:pic>
        <p:nvPicPr>
          <p:cNvPr id="41" name="Image 7" descr="icons/branch_00D9A5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096908" y="4113428"/>
            <a:ext cx="231343" cy="231343"/>
          </a:xfrm>
          <a:prstGeom prst="rect">
            <a:avLst/>
          </a:prstGeom>
        </p:spPr>
      </p:pic>
      <p:sp>
        <p:nvSpPr>
          <p:cNvPr id="42" name="Text 32"/>
          <p:cNvSpPr/>
          <p:nvPr/>
        </p:nvSpPr>
        <p:spPr>
          <a:xfrm>
            <a:off x="8933688" y="4617720"/>
            <a:ext cx="21854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/ GitHub</a:t>
            </a:r>
            <a:endParaRPr lang="en-US" sz="1250" dirty="0"/>
          </a:p>
        </p:txBody>
      </p:sp>
      <p:sp>
        <p:nvSpPr>
          <p:cNvPr id="43" name="Text 33"/>
          <p:cNvSpPr/>
          <p:nvPr/>
        </p:nvSpPr>
        <p:spPr>
          <a:xfrm>
            <a:off x="8933688" y="4937760"/>
            <a:ext cx="218541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A6AD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control and repository for project submission.</a:t>
            </a:r>
            <a:endParaRPr lang="en-US" sz="950" dirty="0"/>
          </a:p>
        </p:txBody>
      </p:sp>
      <p:sp>
        <p:nvSpPr>
          <p:cNvPr id="44" name="Text 34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89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MULTITHREADED LINUX APPLICATION  ·  OS &amp; SYSTEMS PROGRAMMING</a:t>
            </a:r>
            <a:endParaRPr lang="en-US" sz="900" dirty="0"/>
          </a:p>
        </p:txBody>
      </p:sp>
      <p:sp>
        <p:nvSpPr>
          <p:cNvPr id="45" name="Text 35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9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00D9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 ·  EXPECTED OUTCOME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working demonstration of safe concurrency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600200"/>
            <a:ext cx="10789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5A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finished project delivers a functional Linux-based multithreaded application capable of processing multiple tasks at once, with mutex-based synchronization keeping every shared resource consistent from start to finish.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40080" y="2606040"/>
            <a:ext cx="2624328" cy="3383280"/>
          </a:xfrm>
          <a:prstGeom prst="roundRect">
            <a:avLst>
              <a:gd name="adj" fmla="val 3484"/>
            </a:avLst>
          </a:prstGeom>
          <a:solidFill>
            <a:srgbClr val="FFFFFF"/>
          </a:solidFill>
          <a:ln w="12700">
            <a:solidFill>
              <a:srgbClr val="E3E6E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59536" y="2834640"/>
            <a:ext cx="502920" cy="502920"/>
          </a:xfrm>
          <a:prstGeom prst="ellipse">
            <a:avLst/>
          </a:prstGeom>
          <a:solidFill>
            <a:srgbClr val="1B1F3B"/>
          </a:solidFill>
          <a:ln/>
        </p:spPr>
      </p:sp>
      <p:pic>
        <p:nvPicPr>
          <p:cNvPr id="7" name="Image 0" descr="icons/cpu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5324" y="2970428"/>
            <a:ext cx="231343" cy="231343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59536" y="3474720"/>
            <a:ext cx="21854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Concurrent processing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859536" y="4069080"/>
            <a:ext cx="2185416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5A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threads created and managed, executing tasks in parallel rather than one by one.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3392424" y="2606040"/>
            <a:ext cx="2624328" cy="3383280"/>
          </a:xfrm>
          <a:prstGeom prst="roundRect">
            <a:avLst>
              <a:gd name="adj" fmla="val 3484"/>
            </a:avLst>
          </a:prstGeom>
          <a:solidFill>
            <a:srgbClr val="FFFFFF"/>
          </a:solidFill>
          <a:ln w="12700">
            <a:solidFill>
              <a:srgbClr val="E3E6EE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3611880" y="2834640"/>
            <a:ext cx="502920" cy="502920"/>
          </a:xfrm>
          <a:prstGeom prst="ellipse">
            <a:avLst/>
          </a:prstGeom>
          <a:solidFill>
            <a:srgbClr val="1B1F3B"/>
          </a:solidFill>
          <a:ln/>
        </p:spPr>
      </p:sp>
      <p:pic>
        <p:nvPicPr>
          <p:cNvPr id="12" name="Image 1" descr="icons/shield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47668" y="2970428"/>
            <a:ext cx="231343" cy="231343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611880" y="3474720"/>
            <a:ext cx="21854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consistency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3611880" y="4069080"/>
            <a:ext cx="2185416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5A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Mutex-guarded critical sections prevent race conditions on shared resources.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6144768" y="2606040"/>
            <a:ext cx="2624328" cy="3383280"/>
          </a:xfrm>
          <a:prstGeom prst="roundRect">
            <a:avLst>
              <a:gd name="adj" fmla="val 3484"/>
            </a:avLst>
          </a:prstGeom>
          <a:solidFill>
            <a:srgbClr val="FFFFFF"/>
          </a:solidFill>
          <a:ln w="12700">
            <a:solidFill>
              <a:srgbClr val="E3E6EE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6364224" y="2834640"/>
            <a:ext cx="502920" cy="502920"/>
          </a:xfrm>
          <a:prstGeom prst="ellipse">
            <a:avLst/>
          </a:prstGeom>
          <a:solidFill>
            <a:srgbClr val="1B1F3B"/>
          </a:solidFill>
          <a:ln/>
        </p:spPr>
      </p:sp>
      <p:pic>
        <p:nvPicPr>
          <p:cNvPr id="17" name="Image 2" descr="icons/check_FFFF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00012" y="2970428"/>
            <a:ext cx="231343" cy="231343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364224" y="3474720"/>
            <a:ext cx="21854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Visible thread status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6364224" y="4069080"/>
            <a:ext cx="2185416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5A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 and completion of each task is displayed as threads finish their work.</a:t>
            </a:r>
            <a:endParaRPr lang="en-US" sz="1050" dirty="0"/>
          </a:p>
        </p:txBody>
      </p:sp>
      <p:sp>
        <p:nvSpPr>
          <p:cNvPr id="20" name="Shape 15"/>
          <p:cNvSpPr/>
          <p:nvPr/>
        </p:nvSpPr>
        <p:spPr>
          <a:xfrm>
            <a:off x="8897112" y="2606040"/>
            <a:ext cx="2624328" cy="3383280"/>
          </a:xfrm>
          <a:prstGeom prst="roundRect">
            <a:avLst>
              <a:gd name="adj" fmla="val 3484"/>
            </a:avLst>
          </a:prstGeom>
          <a:solidFill>
            <a:srgbClr val="FFFFFF"/>
          </a:solidFill>
          <a:ln w="12700">
            <a:solidFill>
              <a:srgbClr val="E3E6EE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9116568" y="2834640"/>
            <a:ext cx="502920" cy="502920"/>
          </a:xfrm>
          <a:prstGeom prst="ellipse">
            <a:avLst/>
          </a:prstGeom>
          <a:solidFill>
            <a:srgbClr val="1B1F3B"/>
          </a:solidFill>
          <a:ln/>
        </p:spPr>
      </p:sp>
      <p:pic>
        <p:nvPicPr>
          <p:cNvPr id="22" name="Image 3" descr="icons/layers_FFFFFF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52356" y="2970428"/>
            <a:ext cx="231343" cy="231343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9116568" y="3474720"/>
            <a:ext cx="21854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termination</a:t>
            </a:r>
            <a:endParaRPr lang="en-US" sz="1300" dirty="0"/>
          </a:p>
        </p:txBody>
      </p:sp>
      <p:sp>
        <p:nvSpPr>
          <p:cNvPr id="24" name="Text 18"/>
          <p:cNvSpPr/>
          <p:nvPr/>
        </p:nvSpPr>
        <p:spPr>
          <a:xfrm>
            <a:off x="9116568" y="4069080"/>
            <a:ext cx="2185416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5A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Threads and mutex resources are properly released once all work completes.</a:t>
            </a:r>
            <a:endParaRPr lang="en-US" sz="1050" dirty="0"/>
          </a:p>
        </p:txBody>
      </p:sp>
      <p:sp>
        <p:nvSpPr>
          <p:cNvPr id="25" name="Text 19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A6AD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MULTITHREADED LINUX APPLICATION  ·  OS &amp; SYSTEMS PROGRAMMING</a:t>
            </a:r>
            <a:endParaRPr lang="en-US" sz="900" dirty="0"/>
          </a:p>
        </p:txBody>
      </p:sp>
      <p:sp>
        <p:nvSpPr>
          <p:cNvPr id="26" name="Text 20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6AD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B1F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548640"/>
            <a:ext cx="54864" cy="54864"/>
          </a:xfrm>
          <a:prstGeom prst="ellipse">
            <a:avLst/>
          </a:prstGeom>
          <a:solidFill>
            <a:srgbClr val="3A4070"/>
          </a:solidFill>
          <a:ln/>
        </p:spPr>
      </p:sp>
      <p:sp>
        <p:nvSpPr>
          <p:cNvPr id="3" name="Shape 1"/>
          <p:cNvSpPr/>
          <p:nvPr/>
        </p:nvSpPr>
        <p:spPr>
          <a:xfrm>
            <a:off x="9692640" y="868680"/>
            <a:ext cx="54864" cy="54864"/>
          </a:xfrm>
          <a:prstGeom prst="ellipse">
            <a:avLst/>
          </a:prstGeom>
          <a:solidFill>
            <a:srgbClr val="3A4070"/>
          </a:solidFill>
          <a:ln/>
        </p:spPr>
      </p:sp>
      <p:sp>
        <p:nvSpPr>
          <p:cNvPr id="4" name="Shape 2"/>
          <p:cNvSpPr/>
          <p:nvPr/>
        </p:nvSpPr>
        <p:spPr>
          <a:xfrm>
            <a:off x="9692640" y="1188720"/>
            <a:ext cx="54864" cy="54864"/>
          </a:xfrm>
          <a:prstGeom prst="ellipse">
            <a:avLst/>
          </a:prstGeom>
          <a:solidFill>
            <a:srgbClr val="3A4070"/>
          </a:solidFill>
          <a:ln/>
        </p:spPr>
      </p:sp>
      <p:sp>
        <p:nvSpPr>
          <p:cNvPr id="5" name="Shape 3"/>
          <p:cNvSpPr/>
          <p:nvPr/>
        </p:nvSpPr>
        <p:spPr>
          <a:xfrm>
            <a:off x="10012680" y="548640"/>
            <a:ext cx="54864" cy="54864"/>
          </a:xfrm>
          <a:prstGeom prst="ellipse">
            <a:avLst/>
          </a:prstGeom>
          <a:solidFill>
            <a:srgbClr val="3A4070"/>
          </a:solidFill>
          <a:ln/>
        </p:spPr>
      </p:sp>
      <p:sp>
        <p:nvSpPr>
          <p:cNvPr id="6" name="Shape 4"/>
          <p:cNvSpPr/>
          <p:nvPr/>
        </p:nvSpPr>
        <p:spPr>
          <a:xfrm>
            <a:off x="10012680" y="868680"/>
            <a:ext cx="54864" cy="54864"/>
          </a:xfrm>
          <a:prstGeom prst="ellipse">
            <a:avLst/>
          </a:prstGeom>
          <a:solidFill>
            <a:srgbClr val="3A4070"/>
          </a:solidFill>
          <a:ln/>
        </p:spPr>
      </p:sp>
      <p:sp>
        <p:nvSpPr>
          <p:cNvPr id="7" name="Shape 5"/>
          <p:cNvSpPr/>
          <p:nvPr/>
        </p:nvSpPr>
        <p:spPr>
          <a:xfrm>
            <a:off x="10012680" y="1188720"/>
            <a:ext cx="54864" cy="54864"/>
          </a:xfrm>
          <a:prstGeom prst="ellipse">
            <a:avLst/>
          </a:prstGeom>
          <a:solidFill>
            <a:srgbClr val="3A4070"/>
          </a:solidFill>
          <a:ln/>
        </p:spPr>
      </p:sp>
      <p:sp>
        <p:nvSpPr>
          <p:cNvPr id="8" name="Shape 6"/>
          <p:cNvSpPr/>
          <p:nvPr/>
        </p:nvSpPr>
        <p:spPr>
          <a:xfrm>
            <a:off x="10332720" y="548640"/>
            <a:ext cx="54864" cy="54864"/>
          </a:xfrm>
          <a:prstGeom prst="ellipse">
            <a:avLst/>
          </a:prstGeom>
          <a:solidFill>
            <a:srgbClr val="3A4070"/>
          </a:solidFill>
          <a:ln/>
        </p:spPr>
      </p:sp>
      <p:sp>
        <p:nvSpPr>
          <p:cNvPr id="9" name="Shape 7"/>
          <p:cNvSpPr/>
          <p:nvPr/>
        </p:nvSpPr>
        <p:spPr>
          <a:xfrm>
            <a:off x="10332720" y="868680"/>
            <a:ext cx="54864" cy="54864"/>
          </a:xfrm>
          <a:prstGeom prst="ellipse">
            <a:avLst/>
          </a:prstGeom>
          <a:solidFill>
            <a:srgbClr val="3A4070"/>
          </a:solidFill>
          <a:ln/>
        </p:spPr>
      </p:sp>
      <p:sp>
        <p:nvSpPr>
          <p:cNvPr id="10" name="Shape 8"/>
          <p:cNvSpPr/>
          <p:nvPr/>
        </p:nvSpPr>
        <p:spPr>
          <a:xfrm>
            <a:off x="10332720" y="1188720"/>
            <a:ext cx="54864" cy="54864"/>
          </a:xfrm>
          <a:prstGeom prst="ellipse">
            <a:avLst/>
          </a:prstGeom>
          <a:solidFill>
            <a:srgbClr val="3A4070"/>
          </a:solidFill>
          <a:ln/>
        </p:spPr>
      </p:sp>
      <p:sp>
        <p:nvSpPr>
          <p:cNvPr id="11" name="Shape 9"/>
          <p:cNvSpPr/>
          <p:nvPr/>
        </p:nvSpPr>
        <p:spPr>
          <a:xfrm>
            <a:off x="10652760" y="548640"/>
            <a:ext cx="54864" cy="54864"/>
          </a:xfrm>
          <a:prstGeom prst="ellipse">
            <a:avLst/>
          </a:prstGeom>
          <a:solidFill>
            <a:srgbClr val="3A4070"/>
          </a:solidFill>
          <a:ln/>
        </p:spPr>
      </p:sp>
      <p:sp>
        <p:nvSpPr>
          <p:cNvPr id="12" name="Shape 10"/>
          <p:cNvSpPr/>
          <p:nvPr/>
        </p:nvSpPr>
        <p:spPr>
          <a:xfrm>
            <a:off x="10652760" y="868680"/>
            <a:ext cx="54864" cy="54864"/>
          </a:xfrm>
          <a:prstGeom prst="ellipse">
            <a:avLst/>
          </a:prstGeom>
          <a:solidFill>
            <a:srgbClr val="3A4070"/>
          </a:solidFill>
          <a:ln/>
        </p:spPr>
      </p:sp>
      <p:sp>
        <p:nvSpPr>
          <p:cNvPr id="13" name="Shape 11"/>
          <p:cNvSpPr/>
          <p:nvPr/>
        </p:nvSpPr>
        <p:spPr>
          <a:xfrm>
            <a:off x="10652760" y="1188720"/>
            <a:ext cx="54864" cy="54864"/>
          </a:xfrm>
          <a:prstGeom prst="ellipse">
            <a:avLst/>
          </a:prstGeom>
          <a:solidFill>
            <a:srgbClr val="3A4070"/>
          </a:solidFill>
          <a:ln/>
        </p:spPr>
      </p:sp>
      <p:sp>
        <p:nvSpPr>
          <p:cNvPr id="14" name="Shape 12"/>
          <p:cNvSpPr/>
          <p:nvPr/>
        </p:nvSpPr>
        <p:spPr>
          <a:xfrm>
            <a:off x="10972800" y="548640"/>
            <a:ext cx="54864" cy="54864"/>
          </a:xfrm>
          <a:prstGeom prst="ellipse">
            <a:avLst/>
          </a:prstGeom>
          <a:solidFill>
            <a:srgbClr val="3A4070"/>
          </a:solidFill>
          <a:ln/>
        </p:spPr>
      </p:sp>
      <p:sp>
        <p:nvSpPr>
          <p:cNvPr id="15" name="Shape 13"/>
          <p:cNvSpPr/>
          <p:nvPr/>
        </p:nvSpPr>
        <p:spPr>
          <a:xfrm>
            <a:off x="10972800" y="868680"/>
            <a:ext cx="54864" cy="54864"/>
          </a:xfrm>
          <a:prstGeom prst="ellipse">
            <a:avLst/>
          </a:prstGeom>
          <a:solidFill>
            <a:srgbClr val="3A4070"/>
          </a:solidFill>
          <a:ln/>
        </p:spPr>
      </p:sp>
      <p:sp>
        <p:nvSpPr>
          <p:cNvPr id="16" name="Shape 14"/>
          <p:cNvSpPr/>
          <p:nvPr/>
        </p:nvSpPr>
        <p:spPr>
          <a:xfrm>
            <a:off x="10972800" y="1188720"/>
            <a:ext cx="54864" cy="54864"/>
          </a:xfrm>
          <a:prstGeom prst="ellipse">
            <a:avLst/>
          </a:prstGeom>
          <a:solidFill>
            <a:srgbClr val="3A4070"/>
          </a:solidFill>
          <a:ln/>
        </p:spPr>
      </p:sp>
      <p:sp>
        <p:nvSpPr>
          <p:cNvPr id="17" name="Shape 15"/>
          <p:cNvSpPr/>
          <p:nvPr/>
        </p:nvSpPr>
        <p:spPr>
          <a:xfrm>
            <a:off x="11292840" y="548640"/>
            <a:ext cx="54864" cy="54864"/>
          </a:xfrm>
          <a:prstGeom prst="ellipse">
            <a:avLst/>
          </a:prstGeom>
          <a:solidFill>
            <a:srgbClr val="3A4070"/>
          </a:solidFill>
          <a:ln/>
        </p:spPr>
      </p:sp>
      <p:sp>
        <p:nvSpPr>
          <p:cNvPr id="18" name="Shape 16"/>
          <p:cNvSpPr/>
          <p:nvPr/>
        </p:nvSpPr>
        <p:spPr>
          <a:xfrm>
            <a:off x="11292840" y="868680"/>
            <a:ext cx="54864" cy="54864"/>
          </a:xfrm>
          <a:prstGeom prst="ellipse">
            <a:avLst/>
          </a:prstGeom>
          <a:solidFill>
            <a:srgbClr val="3A4070"/>
          </a:solidFill>
          <a:ln/>
        </p:spPr>
      </p:sp>
      <p:sp>
        <p:nvSpPr>
          <p:cNvPr id="19" name="Shape 17"/>
          <p:cNvSpPr/>
          <p:nvPr/>
        </p:nvSpPr>
        <p:spPr>
          <a:xfrm>
            <a:off x="11292840" y="1188720"/>
            <a:ext cx="54864" cy="54864"/>
          </a:xfrm>
          <a:prstGeom prst="ellipse">
            <a:avLst/>
          </a:prstGeom>
          <a:solidFill>
            <a:srgbClr val="3A4070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9144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00D9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 ·  REPOSITORY &amp; SIGN-OFF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640080" y="132588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200" dirty="0"/>
          </a:p>
        </p:txBody>
      </p:sp>
      <p:sp>
        <p:nvSpPr>
          <p:cNvPr id="22" name="Text 20"/>
          <p:cNvSpPr/>
          <p:nvPr/>
        </p:nvSpPr>
        <p:spPr>
          <a:xfrm>
            <a:off x="640080" y="224028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C7C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Multithreaded Linux Application Using POSIX Threads and Mutexes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640080" y="3063240"/>
            <a:ext cx="6949440" cy="914400"/>
          </a:xfrm>
          <a:prstGeom prst="roundRect">
            <a:avLst>
              <a:gd name="adj" fmla="val 8000"/>
            </a:avLst>
          </a:prstGeom>
          <a:solidFill>
            <a:srgbClr val="252A4A"/>
          </a:solidFill>
          <a:ln/>
        </p:spPr>
      </p:sp>
      <p:sp>
        <p:nvSpPr>
          <p:cNvPr id="24" name="Shape 22"/>
          <p:cNvSpPr/>
          <p:nvPr/>
        </p:nvSpPr>
        <p:spPr>
          <a:xfrm>
            <a:off x="868680" y="3246120"/>
            <a:ext cx="548640" cy="548640"/>
          </a:xfrm>
          <a:prstGeom prst="ellipse">
            <a:avLst/>
          </a:prstGeom>
          <a:solidFill>
            <a:srgbClr val="1B1F3B"/>
          </a:solidFill>
          <a:ln/>
        </p:spPr>
      </p:sp>
      <p:pic>
        <p:nvPicPr>
          <p:cNvPr id="25" name="Image 0" descr="icons/github_00D9A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6813" y="3394253"/>
            <a:ext cx="252374" cy="252374"/>
          </a:xfrm>
          <a:prstGeom prst="rect">
            <a:avLst/>
          </a:prstGeom>
        </p:spPr>
      </p:pic>
      <p:sp>
        <p:nvSpPr>
          <p:cNvPr id="26" name="Text 23"/>
          <p:cNvSpPr/>
          <p:nvPr/>
        </p:nvSpPr>
        <p:spPr>
          <a:xfrm>
            <a:off x="1600200" y="3246120"/>
            <a:ext cx="5852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27" name="Text 24"/>
          <p:cNvSpPr/>
          <p:nvPr/>
        </p:nvSpPr>
        <p:spPr>
          <a:xfrm>
            <a:off x="640080" y="43434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00D9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FACULTY</a:t>
            </a:r>
            <a:endParaRPr lang="en-US" sz="1100" dirty="0"/>
          </a:p>
        </p:txBody>
      </p:sp>
      <p:sp>
        <p:nvSpPr>
          <p:cNvPr id="28" name="Text 25"/>
          <p:cNvSpPr/>
          <p:nvPr/>
        </p:nvSpPr>
        <p:spPr>
          <a:xfrm>
            <a:off x="640080" y="46177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 err="1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K.Hema</a:t>
            </a:r>
            <a:endParaRPr lang="en-US" sz="1600" dirty="0"/>
          </a:p>
        </p:txBody>
      </p:sp>
      <p:sp>
        <p:nvSpPr>
          <p:cNvPr id="29" name="Text 26"/>
          <p:cNvSpPr/>
          <p:nvPr/>
        </p:nvSpPr>
        <p:spPr>
          <a:xfrm>
            <a:off x="4114800" y="43434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00D9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/ TEAM</a:t>
            </a:r>
            <a:endParaRPr lang="en-US" sz="1100" dirty="0"/>
          </a:p>
        </p:txBody>
      </p:sp>
      <p:sp>
        <p:nvSpPr>
          <p:cNvPr id="30" name="Text 27"/>
          <p:cNvSpPr/>
          <p:nvPr/>
        </p:nvSpPr>
        <p:spPr>
          <a:xfrm>
            <a:off x="4114800" y="46177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</a:t>
            </a:r>
            <a:r>
              <a:rPr lang="en-US" sz="1600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</a:t>
            </a: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Team </a:t>
            </a:r>
            <a:r>
              <a:rPr lang="en-US" sz="1600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600" dirty="0"/>
          </a:p>
        </p:txBody>
      </p:sp>
      <p:sp>
        <p:nvSpPr>
          <p:cNvPr id="31" name="Shape 28"/>
          <p:cNvSpPr/>
          <p:nvPr/>
        </p:nvSpPr>
        <p:spPr>
          <a:xfrm>
            <a:off x="9966960" y="4480560"/>
            <a:ext cx="1371600" cy="1371600"/>
          </a:xfrm>
          <a:prstGeom prst="ellipse">
            <a:avLst/>
          </a:prstGeom>
          <a:solidFill>
            <a:srgbClr val="252A4A"/>
          </a:solidFill>
          <a:ln/>
        </p:spPr>
      </p:sp>
      <p:pic>
        <p:nvPicPr>
          <p:cNvPr id="32" name="Image 1" descr="icons/linux_00D9A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37292" y="4850892"/>
            <a:ext cx="630936" cy="63093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1018</Words>
  <Application>Microsoft Office PowerPoint</Application>
  <PresentationFormat>Widescreen</PresentationFormat>
  <Paragraphs>180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Nanditha</cp:lastModifiedBy>
  <cp:revision>2</cp:revision>
  <dcterms:created xsi:type="dcterms:W3CDTF">2026-08-29T04:46:49Z</dcterms:created>
  <dcterms:modified xsi:type="dcterms:W3CDTF">2026-09-24T02:57:12Z</dcterms:modified>
</cp:coreProperties>
</file>